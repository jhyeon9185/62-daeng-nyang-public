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배경: 따뜻하고 부드러운 톤의 강아지/고양이 일러스트 또는 62dn 로고</a:t>
            </a:r>
          </a:p>
          <a:p>
            <a:r>
              <a:t>- 중앙: 큰 제목과 발표자 이름</a:t>
            </a:r>
          </a:p>
          <a:p/>
          <a:p>
            <a:r>
              <a:t>[Script]</a:t>
            </a:r>
          </a:p>
          <a:p>
            <a:r>
              <a:t>안녕하세요, 예비 개발자 여러분! 오늘 우리는 '62댕냥' 프로젝트를 통해, 실제 서비스가 어떻게 외부 데이터를 가져와서 사용자에게 의미 있는 기능을 제공하는지 알아볼 겁니다. 단순히 "코드를 짰다"가 아니라, "공공 데이터 포털의 유기동물 정보를 내 서비스로 가져오고(동기화)", "사용자가 마음에 드는 동물을 발견했을 때 어떻게 입양 신청까지 물 흐르듯이 연결되는지" 그 전체적인 그림을 그려보려고 합니다. API 연동, 데이터베이스 동기화, 그리고 상태 관리... 말만 들어도 어렵죠? 하지만 걱정 마세요. 오늘 이 시간이 끝나면 "아, 별거 아니네!"라고 느끼게 되실 겁니다. 자, 그럼 시작해 볼까요?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프로젝트 로고와 메인 화면 스크린샷 1장</a:t>
            </a:r>
          </a:p>
          <a:p>
            <a:r>
              <a:t>- 기술 스택 로고 모음 (Spring Boot, React, PostgreSQL 등)</a:t>
            </a:r>
          </a:p>
          <a:p/>
          <a:p>
            <a:r>
              <a:t>[Script]</a:t>
            </a:r>
          </a:p>
          <a:p>
            <a:r>
              <a:t>먼저 우리가 다룰 '62댕냥'이 어떤 프로젝트인지 간단히 소개할게요. 62댕냥은 전국의 유기동물 정보를 보여주고, 가족을 찾을 수 있게 도와주는 플랫폼입니다. 백엔드는 요즘 가장 많이 쓰는 자바와 스프링 부트로 튼튼하게 지었고, 프론트엔드는 리액트로 빠릿빠릿하게 만들었죠. 여기에 공공데이터포털의 API를 연동해서 매일 새로운 동물 정보를 가져오고, 카카오맵으로 보호소 위치도 보여줍니다. 한마디로 "종합 선물 세트" 같은 프로젝트죠.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도서관 사서(내 서버)가 다른 거대 도서관(외부 API)에 전화를 걸어 책 정보를 물어보는 일러스트</a:t>
            </a:r>
          </a:p>
          <a:p/>
          <a:p>
            <a:r>
              <a:t>[Script]</a:t>
            </a:r>
          </a:p>
          <a:p>
            <a:r>
              <a:t>여러분, '외부 API 연동'이라는 말이 어렵게 느껴지시나요? 이렇게 생각해보세요. 여러분이 작은 동네 도서관을 운영한다고 칩시다. 그런데 우리 도서관에 없는 희귀한 책을 손님이 찾아요. 그럼 어떻게 하죠? 국회도서관 같은 큰 곳에 전화해서 "그 책 있나요?" 물어보고, 정보를 받아서 손님한테 알려주겠죠? 여기서 '전화 거는 것'이 API 요청(Request), '정보를 받는 것'이 API 응답(Response)입니다. 그리고 아무나 전화하면 안 되니까 '도서관 회원증' 같은 걸 보여줘야 하는데, 그게 바로 API Key입니다. 우리는 공공데이터포털이라는 아주 큰 도서관에서 '유기동물 정보'라는 책 목록을 매일매일 빌려올 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흐름도(Flow Chart): `data.go.kr` → `Java Server` → `DB` → `React Client` 화살표 흐름</a:t>
            </a:r>
          </a:p>
          <a:p>
            <a:r>
              <a:t>- 각 단계 아이콘으로 시각화</a:t>
            </a:r>
          </a:p>
          <a:p/>
          <a:p>
            <a:r>
              <a:t>[Script]</a:t>
            </a:r>
          </a:p>
          <a:p>
            <a:r>
              <a:t>전체적인 데이터의 여행 경로를 볼까요? 시작은 '공공데이터포털'입니다. 여기서 우리 서버의 `PublicApiService`라는 직원이 데이터를 받아옵니다. 그럼 `AnimalSyncService`라는 또 다른 직원이 이 데이터를 꼼꼼히 검수해서 우리 창고인 `PostgreSQL` 데이터베이스에 예쁘게 정리해 넣습니다. 마지막으로 사용자가 웹사이트에 접속하면, 우리 서버는 공공데이터포털까지 갈 필요 없이 우리 창고(DB)에 있는 데이터를 꺼내서 아주 빠르게 보여주는 거죠. 이 과정이 바로 '동기화(Synchronization)'입니다.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코드 스니펫: `UriComponentsBuilder`를 사용하여 URL을 만드는 부분과 `restTemplate.exchange()` 호출 부분 (핵심 3~4줄)</a:t>
            </a:r>
          </a:p>
          <a:p/>
          <a:p>
            <a:r>
              <a:t>[Script]</a:t>
            </a:r>
          </a:p>
          <a:p>
            <a:r>
              <a:t>자, 이제 코드를 살짝 볼까요? `PublicApiService`는 '외교관' 같은 역할을 합니다. 외부 세계(공공데이터포털)와 소통하죠. 자바 코드에서 `UriComponentsBuilder`를 사용해 주소를 만들고, 서비스 키(ServiceKey)라는 출입증을 붙여서 HTTP GET 요청을 보냅니다. 그러면 공공데이터포털이 JSON이라는 형식으로 응답을 주는데요, 이 복잡한 문자를 자바가 이해할 수 있는 객체로 알맞게 바꾸는 작업도 여기서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JSON 예시 비교: 왼쪽은 `{ item: { ... } }` (객체), 오른쪽은 `{ item: [ ... ] }` (배열)</a:t>
            </a:r>
          </a:p>
          <a:p>
            <a:r>
              <a:t>- 곤란해하는 개발자 이모지 🤯</a:t>
            </a:r>
          </a:p>
          <a:p/>
          <a:p>
            <a:r>
              <a:t>[Script]</a:t>
            </a:r>
          </a:p>
          <a:p>
            <a:r>
              <a:t>그런데 여기서 잠깐! 개발하다 보면 멘붕(?)에 빠지는 순간이 옵니다. 공공 데이터가 참 친절하지 않을 때가 있어요. 검색 결과가 여러 개면 `[목록]`(배열)으로 주는데, 딱 1개만 있으면 목록이 아니라 그냥 `{객체}` 하나만 덜렁 줍니다. 우리 코드는 "무조건 목록(List)이겠지?" 하고 기다리는데 갑자기 객체가 오면 에러가 빵! 터지죠. 그래서 우리는 `PublicApiResponse`라는 똑똑한 포장지를 만들어서, 1개가 오든 여러 개가 오든 알아서 척척 처리하도록 코드를 짰습니다. 이런 게 바로 실무 노하우죠!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표(Table): JSON 필드명(desertionNo, happenDt)과 Java 필드명 매핑 보여주기</a:t>
            </a:r>
          </a:p>
          <a:p>
            <a:r>
              <a:t>- 코드 스니펫: `AnimalItem` 클래스의 필드 선언부</a:t>
            </a:r>
          </a:p>
          <a:p/>
          <a:p>
            <a:r>
              <a:t>[Script]</a:t>
            </a:r>
          </a:p>
          <a:p>
            <a:r>
              <a:t>공공 데이터가 보내준 JSON은 그냥 문자열 덩어리일 뿐입니다. 이걸 우리가 쓰기 편한 자바 객체로 바꿔야 하는데, 이때 등장하는 것이 `AnimalItem` 클래스입니다. "유기번호는 `desertionNo`에 담고, 접수일은 `happenDt`에 담아라"라고 딱 정해주는 거죠. 마치 해외 직구로 물건을 샀을 때, 송장에 적힌 영어 주소를 보고 한국 택배 기사님이 알아보실 수 있게 한글 주소 라벨을 붙이는 과정과 비슷합니다.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순서도(Flowchart):</a:t>
            </a:r>
          </a:p>
          <a:p>
            <a:r>
              <a:t>`공공데이터 1건` → `유기번호 조회` → `(Yes/No)` 분기</a:t>
            </a:r>
          </a:p>
          <a:p>
            <a:r>
              <a:t>→ Yes: `dbAnimal.update()`</a:t>
            </a:r>
          </a:p>
          <a:p>
            <a:r>
              <a:t>→ No: `repository.save()`</a:t>
            </a:r>
          </a:p>
          <a:p/>
          <a:p>
            <a:r>
              <a:t>[Script]</a:t>
            </a:r>
          </a:p>
          <a:p>
            <a:r>
              <a:t>자, 이제 Part 1의 하이라이트, `AnimalSyncService`입니다. 여기서 **Upsert(업설트)** 라는 중요한 개념이 나옵니다. 업설트는 **Up**date와 In**sert**를 합친 말이에요. 택배 물류센터를 상상해보세요. 물건이 들어왔는데, 1. 처음 보는 물건이면? 새로 진열합니다. (Insert) 2. 이미 있는 물건인데 포장이 바뀌었으면? 새 걸로 바꿔치기합니다. (Update) 3. 만약 "판매 종료"된 상품이면? 진열대에서 치워버립니다. (Delete) 우리 코드는 이 판단을 유기번호(주민번호 같은 것) 하나로 아주 빠르게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Before &amp; After 비교:</a:t>
            </a:r>
          </a:p>
          <a:p>
            <a:r>
              <a:t>지저분한 원본 데이터("2019(년생)", "4.5Kg") → 깔끔한 정제 데이터(`2019`, `4.5`, `SMALL`)</a:t>
            </a:r>
          </a:p>
          <a:p/>
          <a:p>
            <a:r>
              <a:t>[Script]</a:t>
            </a:r>
          </a:p>
          <a:p>
            <a:r>
              <a:t>공공 데이터는 생각보다 많이 지저분합니다. 나이가 "2023(년생)"이라고 괄호까지 섞여서 오고, 체중도 "3.5Kg" 처럼 단위가 붙어있죠. 이걸 그대로 쓰면 통계를 낼 수도, 검색하기도 힘들겠죠? 그래서 우리는 데이터를 저장하기 전에 **'정제(Cleansing)'** 과정을 거칩니다. 숫자만 쏙쏙 뽑아내고, 체중을 보고 "아, 이 정도면 소형견이구나" 하고 크기도 자동으로 분류해줍니다. 이렇게 데이터를 예쁘게 다듬어야 나중에 사용자가 "소형견만 보여줘!" 했을 때 정확하게 보여줄 수 개 있겠죠?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ER 다이어그램 (간략): `Animal` 테이블과 `Shelter` 테이블이 선으로 연결된 그림 (N:1 관계 표시)</a:t>
            </a:r>
          </a:p>
          <a:p/>
          <a:p>
            <a:r>
              <a:t>[Script]</a:t>
            </a:r>
          </a:p>
          <a:p>
            <a:r>
              <a:t>이렇게 예쁘게 다듬어진 데이터는 `Animal`이라는 이름표를 달고 데이터베이스 서랍장에 들어갑니다. 여기서 중요한 건 `Shelter`(보호소)와의 관계입니다. 한 보호소에는 여러 마리의 동물이 있겠죠? 그래서 '다대일(N:1)' 관계라고 부릅니다. 동물 정보 안에는 보호소 정보 전체를 다 넣는 게 아니라, "이 동물은 1번 보호소에 있어요"라고 링크(참조)만 걸어둡니다. 이게 바로 관계형 데이터베이스(RDBMS)를 쓰는 효율적인 방법이죠.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시계 아이콘이 새벽 2시를 가리키고, 서버가 혼자 열심히 일하는 귀여운 일러스트</a:t>
            </a:r>
          </a:p>
          <a:p>
            <a:r>
              <a:t>- 코드 하이라이트: `@Scheduled` 어노테이션 부분</a:t>
            </a:r>
          </a:p>
          <a:p/>
          <a:p>
            <a:r>
              <a:t>[Script]</a:t>
            </a:r>
          </a:p>
          <a:p>
            <a:r>
              <a:t>우리가 매번 "동기화 버튼"을 누를 순 없겠죠? 우리에겐 **스케줄러**가 있습니다. 매일 새벽 2시, 모두가 잠든 시간. 서버는 조용히 깨어나 공공데이터포털에 다녀옵니다. "오늘 새로 들어온 친구 있나요?" 하고 물어보고 데이터를 갱신해두죠. 덕분에 사용자는 아침에 일어나서 접속하면, 우리가 아무것도 안 해도 최신 유기동물 목록을 볼 수 있는 겁니다. 마치 우렁각시 같지 않나요?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웹 브라우저 주소창 예시: `/api/animals?page=1&amp;size=10&amp;species=DOG`</a:t>
            </a:r>
          </a:p>
          <a:p>
            <a:r>
              <a:t>- JSON 응답 예시 (간략)</a:t>
            </a:r>
          </a:p>
          <a:p/>
          <a:p>
            <a:r>
              <a:t>[Script]</a:t>
            </a:r>
          </a:p>
          <a:p>
            <a:r>
              <a:t>이제 창고에 데이터를 잘 쌓았으니, 손님에게 보여줄 차례입니다. 사용자가 "서울에 있는 작은 강아지만 보여줘"라고 검색하면, 프론트엔드는 `/api/animals?uprCd=서울&amp;species=DOG&amp;size=SMALL` 이렇게 요청을 보냅니다. 백엔드는 이 요청을 받아서 데이터베이스에서 조건에 딱 맞는 아이들만 쏙쏙 뽑아서 보내줍니다. 바로 `QueryDSL`이라는 기술을 써서 아주 복잡한 조건도 척척 처리해내죠.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사용자 프로필(소형견 선호) ↔ 추천 결과(치와와, 말티즈 등) 매칭 그림</a:t>
            </a:r>
          </a:p>
          <a:p/>
          <a:p>
            <a:r>
              <a:t>[Script]</a:t>
            </a:r>
          </a:p>
          <a:p>
            <a:r>
              <a:t>62댕냥의 특별한 기능! 바로 '추천 시스템'입니다. 사용자가 가입할 때 "저는 작고 하얀 강아지를 좋아해요"라고 입력해두면, 서버는 그 정보를 기억했다가 메인 화면에 들어왔을 때 그 취향에 맞는 아이들을 제일 먼저 보여줍니다. 수천 마리의 유기동물 중에서 내 운명의 단짝을 만날 확률을 조금이라도 높여주려는 우리의 작은 배려랍니다.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동물 목록 페이지 화면 캡처 (필터링된 상태)</a:t>
            </a:r>
          </a:p>
          <a:p>
            <a:r>
              <a:t>- 카드 컴포넌트 확대: 사진, 이름, 특징이 잘 보이게</a:t>
            </a:r>
          </a:p>
          <a:p/>
          <a:p>
            <a:r>
              <a:t>[Script]</a:t>
            </a:r>
          </a:p>
          <a:p>
            <a:r>
              <a:t>프론트엔드, 즉 리액트 화면은 어떻게 생겼을까요? 왼쪽에는 원하는 조건을 고르는 필터가 있고, 오른쪽에는 동물들의 카드가 쫙 펼쳐집니다. 사진을 크게 배치해서 아이들의 매력을 어필했고요, 마음에 드는 아이는 하트 버튼을 눌러서 '찜'해둘 수 있습니다. 이 모든 데이터가 아까 우리가 만든 API를 통해 실시간으로 불러와지는 거죠.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상세 페이지 스크린샷: 하단에 큼지막한 "입양 신청" / "임보 신청" 버튼 강조</a:t>
            </a:r>
          </a:p>
          <a:p/>
          <a:p>
            <a:r>
              <a:t>[Script]</a:t>
            </a:r>
          </a:p>
          <a:p>
            <a:r>
              <a:t>동물 카드를 클릭하면 상세 페이지로 이동합니다. 여기서 아이의 자세한 사연도 보고, 보호소가 어디인지 지도도 확인하고, 담당자에게 전화도 걸 수 있습니다. 그리고 가장 중요한 버튼! 바로 **"입양 신청하기"** 버튼이 여기에 있죠. 사용자가 이 버튼을 누르는 순간, 우리가 지금까지 다뤘던 '정보 조회'의 세계에서, 이제부터 다룰 '입양 신청'의 세계로 넘어가게 됩니다. 자, 그럼 2부, 입양 기능으로 넘어가 볼까요?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Part 2 타이틀 슬라이드 (색상 톤 변화를 주어 분위기 전환)</a:t>
            </a:r>
          </a:p>
          <a:p/>
          <a:p>
            <a:r>
              <a:t>[Script]</a:t>
            </a:r>
          </a:p>
          <a:p>
            <a:r>
              <a:t>네, 2부입니다. 이제 단순히 정보를 보는 것을 넘어서, 실제로 "이 아이를 제가 키우겠습니다!"라고 손을 드는 과정입니다. 사용자에겐 설레는 신청 과정이지만, 개발자에겐 **상태 관리(State Management)** 라는 아주 중요한 미션이 기다리고 있는 파트죠. 어떻게 설계했는지 살펴봅시다.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저울 그림: 왼쪽엔 '입양', 오른쪽엔 '임시보호'가 있지만 저울은 평형 (프로세스가 같음)</a:t>
            </a:r>
          </a:p>
          <a:p/>
          <a:p>
            <a:r>
              <a:t>[Script]</a:t>
            </a:r>
          </a:p>
          <a:p>
            <a:r>
              <a:t>먼저 용어부터 정리해볼까요? '입양'은 평생 가족이 되는 결혼 같은 것이고, '임시보호'는 좋은 가족을 만날 때까지 잠시 돌봐주는 위탁 부모 같은 겁니다. 목적은 다르지만, 시스템 입장에서 볼까요? 신청서를 내고, 담당자가 검토하고, 승인하거나 거절하는 절차... 완전히 똑같습니다! 그래서 우리는 이 둘을 따로 만들지 않고, **Adoption**이라는 하나의 시스템에서 '타입(Type)'만 구분해서 같이 처리하기로 결정했습니다. 효율적이죠?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Adoption 테이블 구조도: `user_id`, `animal_id` FK 표시</a:t>
            </a:r>
          </a:p>
          <a:p>
            <a:r>
              <a:t>- `AdoptionType` Enum 코드 박스</a:t>
            </a:r>
          </a:p>
          <a:p/>
          <a:p>
            <a:r>
              <a:t>[Script]</a:t>
            </a:r>
          </a:p>
          <a:p>
            <a:r>
              <a:t>이게 바로 그 통합 신청서, `Adoption Entity`입니다. 누가(User), 어떤 동물을(Animal), 어떤 형태(Type)로 신청했는지 기록합니다. 그리고 제일 중요한 **Status(상태)**! 지금 심사 중인지, 승인됐는지, 거절됐는지를 나타내는 꼬리표가 붙어있습니다. 데이터베이스 설계의 묘미는 이렇게 중복을 없애고 핵심만 남기는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상태 전이 다이어그램 (State Transition Diagram):</a:t>
            </a:r>
          </a:p>
          <a:p>
            <a:r>
              <a:t>`PENDING`에서 출발하여 3갈래(`APPROVED`, `REJECTED`, `CANCELLED`)로 뻗어나가는 화살표</a:t>
            </a:r>
          </a:p>
          <a:p>
            <a:r>
              <a:t>- 승인된 상태에서 취소로 가는 화살표에 X 표시 (불가)</a:t>
            </a:r>
          </a:p>
          <a:p/>
          <a:p>
            <a:r>
              <a:t>[Script]</a:t>
            </a:r>
          </a:p>
          <a:p>
            <a:r>
              <a:t>쇼핑몰에서 주문 배송 조회 해보셨죠? '결제 완료' → '배송 중' → '배송 완료'. 이게 바로 상태(Status) 관리입니다. 우리 입양 시스템도 똑같습니다. 처음 신청하면 무조건 `PENDING`(대기) 상태입니다. 여기서 관리자가 승인하면 `APPROVED`, 거절하면 `REJECTED`, 사용자가 마음이 바뀌면 `CANCELLED`가 되죠. 중요한 건, 이미 '승인'된 건을 '취소'하거나 다시 '거절'할 수 없다는 겁니다. 한 번 결정되면 끝! 이런 규칙을 코드로 강제하는 게 개발자의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UI 흐름도: 화면 1(작성) → 화면 2(제출) → 화면 3(완료 모달)</a:t>
            </a:r>
          </a:p>
          <a:p/>
          <a:p>
            <a:r>
              <a:t>[Script]</a:t>
            </a:r>
          </a:p>
          <a:p>
            <a:r>
              <a:t>사용자 화면을 볼까요? 마음에 드는 강아지를 보고 "입양 신청"을 누르면 폼이 뜹니다. "집은 아파트인가요?", "가족들은 다 동의했나요?" 꼼꼼히 물어봅니다. 생명을 맡기는 일이니까요. 다 쓰고 제출하면 팡파르와 함께 "신청이 접수되었습니다!"라고 뜨고, 동시에 가입한 이메일로 "잘 접수됐어요~" 하고 메일이 날아갑니다.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`apply` 메서드 자바 코드 (핵심 로직 5줄 내외): validate → build → save → notify</a:t>
            </a:r>
          </a:p>
          <a:p/>
          <a:p>
            <a:r>
              <a:t>[Script]</a:t>
            </a:r>
          </a:p>
          <a:p>
            <a:r>
              <a:t>이걸 처리하는 백엔드 코드는 이렇게 생겼습니다. `apply()` 메서드! 가장 먼저 하는 건 '검증'입니다. "이 회원 진짜 회원 맞아?", "이 동물 아직 데이터베이스에 있어?" 확인하죠. 그다음 엔티티를 만들어서 저장(`save`)하고, 마지막으로 이메일 서비스(`emailService`)를 툭 쳐서 메일을 보냅니다. 이 순서가 뒤죽박죽되면 안 되겠죠? 데이터 저장이 성공했을 때만 메일을 보내야 하니까요. 이걸 **트랜잭션(Transaction)**으로 묶어주는 것도 아주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관리자 대시보드 화면 목업: 신청 목록 옆에 O(승인) / X(거절) 버튼</a:t>
            </a:r>
          </a:p>
          <a:p/>
          <a:p>
            <a:r>
              <a:t>[Script]</a:t>
            </a:r>
          </a:p>
          <a:p>
            <a:r>
              <a:t>이제 공은 관리자에게 넘어갔습니다. 관리자는 대시보드에서 들어온 신청서들을 쭉 봅니다. "아, 이분은 준비가 잘 되셨네." 하면 승인 버튼을, "어라? 집을 너무 자주 비우신다는데..." 하면 거절 버튼을 누릅니다. 거절할 땐 반드시 친절하게 이유를 적어줘야 하고요. 버튼을 누르는 순간, 서버는 아까 봤던 상태 머신 규칙에 따라 상태를 딱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이메일 도착 화면(Gmail 등)과 웹사이트 알림 배지(빨간 점) 캡처</a:t>
            </a:r>
          </a:p>
          <a:p>
            <a:r>
              <a:t>- Resend 로고</a:t>
            </a:r>
          </a:p>
          <a:p/>
          <a:p>
            <a:r>
              <a:t>[Script]</a:t>
            </a:r>
          </a:p>
          <a:p>
            <a:r>
              <a:t>결과가 나왔으면 알려줘야죠. 62댕냥은 두 가지 방법으로 끈질기게(?) 알려줍니다. 하나는 이메일입니다. `Resend`라는 아주 편리한 외부 서비스를 써서, 스팸통에 안 들어가게 잘 보냅니다. 또 하나는 웹사이트 내의 알림입니다. 페이스북이나 인스타처럼 상단 종 모양 아이콘에 빨간 불이 딱! 들어오죠. 사용자가 결과를 놓치지 않게 하려는 섬세한 배려입니다.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TypeScript 코드: `interface AdoptionRequest { animalId: number; reason: string; ... }`</a:t>
            </a:r>
          </a:p>
          <a:p/>
          <a:p>
            <a:r>
              <a:t>[Script]</a:t>
            </a:r>
          </a:p>
          <a:p>
            <a:r>
              <a:t>프론트엔드 개발자는 백엔드와 약속을 합니다. "신청할 땐 `animalId`랑 `reason` 꼭 보낼게. 응답은 `id`랑 `status` 주는 거 맞지?" 이 약속을 코드로 적어문 게 타입스크립트의 **Interface**입니다. 이 약속 덕분에 오타를 내거나 엉뚱한 데이터를 보내는 실수를 코딩 단계에서 바로잡을 수 있죠.</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입양 가이드(초록)와 임보 가이드(파랑) 화면 나란히 비교</a:t>
            </a:r>
          </a:p>
          <a:p>
            <a:r>
              <a:t>- 단계별 아이콘 프로세스 바</a:t>
            </a:r>
          </a:p>
          <a:p/>
          <a:p>
            <a:r>
              <a:t>[Script]</a:t>
            </a:r>
          </a:p>
          <a:p>
            <a:r>
              <a:t>신청 버튼 누르기 전에 "입양은 어떻게 진행되나요?" 궁금해하는 분들을 위해 가이드 페이지를 따로 만들었습니다. 입양은 녹색, 임시보호는 파란색으로 테마를 다르게 해서 헷갈리지 않게 했고요. 단계별로 아이콘을 써서 1단계 교육, 2단계 상담... 이렇게 게임 퀘스트 깨듯이 보여줍니다. 사용자가 막막해하지 않고 편안하게 신청할 수 있도록 돕는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전화번호 박스 컴포넌트 확대</a:t>
            </a:r>
          </a:p>
          <a:p>
            <a:r>
              <a:t>- "복사되었습니다!" 토스트 메시지</a:t>
            </a:r>
          </a:p>
          <a:p/>
          <a:p>
            <a:r>
              <a:t>[Script]</a:t>
            </a:r>
          </a:p>
          <a:p>
            <a:r>
              <a:t>여기 작지만 기특한 녀석이 있습니다. 바로 '전화 연결 박스'인데요. 보호소에 전화 걸 때 제일 먼저 물어보는 게 "유기번호가 뭐예요?"거든요. 긴 번호 외우기 힘들잖아요? 그래서 옆에 '복사' 버튼을 달아줬습니다. 입양 페이지에도, 임보 페이지에도 똑같이 들어가는 이 박스, 컴포넌트 하나 잘 만들어두면 여기저기서 재사용하니 개발 효율도 쑥쑥 오릅니다.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전체 과정을 아우르는 시퀀스 다이어그램 (Swimlane: User | Frontend | Backend | Database | Admin)</a:t>
            </a:r>
          </a:p>
          <a:p/>
          <a:p>
            <a:r>
              <a:t>[Script]</a:t>
            </a:r>
          </a:p>
          <a:p>
            <a:r>
              <a:t>자, 이제 마무리를 향해 갑니다. 우리가 만든 전체 시스템이 어떻게 돌아가는지 영상 보듯이 머릿속으로 그려보세요. 사용자가 동물을 보고 반해서 신청서를 쓰고, 서버가 접수하고, 관리자가 승인 도장을 쾅! 찍으면, 다시 사용자에게 기쁜 소식이 날아가는 이 과정. 이 모든 게 물 흐르듯이 이어집니다. Part 1의 데이터 동기화가 없었다면 동물도 없었을 테고, Part 2의 입양 시스템이 없었다면 만남은 성사되지 않았겠죠.</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에러 메시지 팝업 예시 ("사유를 입력해주세요!")</a:t>
            </a:r>
          </a:p>
          <a:p>
            <a:r>
              <a:t>- 자바 코드: `@NotNull`, `orElseThrow()`</a:t>
            </a:r>
          </a:p>
          <a:p/>
          <a:p>
            <a:r>
              <a:t>[Script]</a:t>
            </a:r>
          </a:p>
          <a:p>
            <a:r>
              <a:t>하지만 현실 세계엔 예외가 많습니다. 사유를 안 적고 신청 버튼을 누르거나, 이미 누가 입양해 간 동물을 또 신청할 수도 있죠. 그래서 우리는 꼼꼼한 방어막을 쳐뒀습니다. "빈칸은 안 돼요!", "이 동물은 이미 입양 갔어요!"라고, 서버가 깐깐하게 체크해서 알려줍니다. 이런 에러 처리가 잘 되어 있어야 사용자가 당황하지 않고 올바르게 서비스를 이용할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- 4가지 포인트를 아이콘과 함께 카드 형태로 요약</a:t>
            </a:r>
          </a:p>
          <a:p/>
          <a:p>
            <a:r>
              <a:t>[Script]</a:t>
            </a:r>
          </a:p>
          <a:p>
            <a:r>
              <a:t>오늘 강의를 요약해볼까요? 첫째, 남의 집(외부 API) 데이터는 언제 바뀔지 모르니 우리 식(DTO)으로 잘 포장해서 쓰자. 둘째, 데이터 동기화는 '없으면 넣고, 있으면 고치고, 사라지면 지우는' Upsert가 답이다. 셋째, 비슷한 기능은 따로 만들지 말고 하나로 합치되, Enum으로 구분하자. 넷째, 상태(Status)는 함부로 바꾸지 못하게 규칙을 정하자. 이 네 가지만 기억해도 여러분은 이미 주니어 개발자 이상의 설계를 할 줄 아는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질문하는 캐릭터 일러스트</a:t>
            </a:r>
          </a:p>
          <a:p>
            <a:r>
              <a:t>- "Thank You" 텍스트</a:t>
            </a:r>
          </a:p>
          <a:p/>
          <a:p>
            <a:r>
              <a:t>[Script]</a:t>
            </a:r>
          </a:p>
          <a:p>
            <a:r>
              <a:t>긴 시간 동안 62댕냥 프로젝트의 뒷단을 파헤치느라 고생 많으셨습니다. 공공 API 연동부터 입양 시스템까지, 궁금한 점이 있다면 무엇이든 물어보세요. 여러분의 멋진 프로젝트에도 오늘 배운 내용이 도움이 되길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1371600"/>
            <a:ext cx="8229600" cy="2286000"/>
          </a:xfrm>
          <a:prstGeom prst="rect">
            <a:avLst/>
          </a:prstGeom>
          <a:noFill/>
        </p:spPr>
        <p:txBody>
          <a:bodyPr wrap="square">
            <a:spAutoFit/>
          </a:bodyPr>
          <a:lstStyle/>
          <a:p>
            <a:pPr algn="ctr">
              <a:lnSpc>
                <a:spcPct val="130000"/>
              </a:lnSpc>
              <a:defRPr sz="4800" b="1">
                <a:solidFill>
                  <a:srgbClr val="00F0FF"/>
                </a:solidFill>
                <a:latin typeface="Malgun Gothic"/>
              </a:defRPr>
            </a:pPr>
          </a:p>
        </p:txBody>
      </p:sp>
      <p:sp>
        <p:nvSpPr>
          <p:cNvPr id="3" name="Rectangle 2"/>
          <p:cNvSpPr/>
          <p:nvPr/>
        </p:nvSpPr>
        <p:spPr>
          <a:xfrm>
            <a:off x="3657600" y="3840480"/>
            <a:ext cx="1828800" cy="4572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1371600"/>
            <a:ext cx="8229600" cy="2286000"/>
          </a:xfrm>
          <a:prstGeom prst="rect">
            <a:avLst/>
          </a:prstGeom>
          <a:noFill/>
        </p:spPr>
        <p:txBody>
          <a:bodyPr wrap="square">
            <a:spAutoFit/>
          </a:bodyPr>
          <a:lstStyle/>
          <a:p>
            <a:pPr algn="ctr">
              <a:lnSpc>
                <a:spcPct val="130000"/>
              </a:lnSpc>
              <a:defRPr sz="3600" b="1">
                <a:solidFill>
                  <a:srgbClr val="00F0FF"/>
                </a:solidFill>
                <a:latin typeface="Malgun Gothic"/>
              </a:defRPr>
            </a:pPr>
            <a:r>
              <a:t>62dn(62댕냥): 유기동물 정보 &amp; 입양/임시보호 기능 완전 정복</a:t>
            </a:r>
          </a:p>
        </p:txBody>
      </p:sp>
      <p:sp>
        <p:nvSpPr>
          <p:cNvPr id="3" name="Rectangle 2"/>
          <p:cNvSpPr/>
          <p:nvPr/>
        </p:nvSpPr>
        <p:spPr>
          <a:xfrm>
            <a:off x="3657600" y="3840480"/>
            <a:ext cx="1828800" cy="4572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0"/>
            <a:ext cx="8229600" cy="914400"/>
          </a:xfrm>
          <a:prstGeom prst="rect">
            <a:avLst/>
          </a:prstGeom>
          <a:noFill/>
        </p:spPr>
        <p:txBody>
          <a:bodyPr wrap="square">
            <a:spAutoFit/>
          </a:bodyPr>
          <a:lstStyle/>
          <a:p>
            <a:pPr algn="ctr">
              <a:lnSpc>
                <a:spcPct val="120000"/>
              </a:lnSpc>
              <a:defRPr sz="2200">
                <a:solidFill>
                  <a:srgbClr val="F8F8F2"/>
                </a:solidFill>
                <a:latin typeface="Malgun Gothic"/>
              </a:defRPr>
            </a:pPr>
            <a:r>
              <a:t>공공 API 연동부터 입양 신청 관리 시스템까지, 실무 레벨로 파헤치기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62댕냥(62dn) 프로젝트란?</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**목표**: 유기동물 정보를 한눈에 보고, 입양/임시보호까지 연결하는 플랫폼</a:t>
            </a:r>
          </a:p>
          <a:p>
            <a:pPr>
              <a:lnSpc>
                <a:spcPct val="120000"/>
              </a:lnSpc>
              <a:spcAft>
                <a:spcPts val="1200"/>
              </a:spcAft>
              <a:defRPr sz="2200">
                <a:solidFill>
                  <a:srgbClr val="F8F8F2"/>
                </a:solidFill>
                <a:latin typeface="Malgun Gothic"/>
              </a:defRPr>
            </a:pPr>
            <a:r>
              <a:t>**기술 스택**:</a:t>
            </a:r>
          </a:p>
          <a:p>
            <a:pPr>
              <a:lnSpc>
                <a:spcPct val="120000"/>
              </a:lnSpc>
              <a:spcAft>
                <a:spcPts val="1200"/>
              </a:spcAft>
              <a:defRPr sz="2200">
                <a:solidFill>
                  <a:srgbClr val="F8F8F2"/>
                </a:solidFill>
                <a:latin typeface="Malgun Gothic"/>
              </a:defRPr>
            </a:pPr>
            <a:r>
              <a:t>Backend: Java 17, Spring Boot 3, JPA, PostgreSQL</a:t>
            </a:r>
          </a:p>
          <a:p>
            <a:pPr>
              <a:lnSpc>
                <a:spcPct val="120000"/>
              </a:lnSpc>
              <a:spcAft>
                <a:spcPts val="1200"/>
              </a:spcAft>
              <a:defRPr sz="2200">
                <a:solidFill>
                  <a:srgbClr val="F8F8F2"/>
                </a:solidFill>
                <a:latin typeface="Malgun Gothic"/>
              </a:defRPr>
            </a:pPr>
            <a:r>
              <a:t>Frontend: React, TypeScript, Vite</a:t>
            </a:r>
          </a:p>
          <a:p>
            <a:pPr>
              <a:lnSpc>
                <a:spcPct val="120000"/>
              </a:lnSpc>
              <a:spcAft>
                <a:spcPts val="1200"/>
              </a:spcAft>
              <a:defRPr sz="2200">
                <a:solidFill>
                  <a:srgbClr val="F8F8F2"/>
                </a:solidFill>
                <a:latin typeface="Malgun Gothic"/>
              </a:defRPr>
            </a:pPr>
            <a:r>
              <a:t>External: 공공데이터포털 API, 카카오맵, Resend(이메일)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외부 API 연동이란?</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**API (Application Programming Interface)**: 프로그램끼리 대화하는 방법</a:t>
            </a:r>
          </a:p>
          <a:p>
            <a:pPr>
              <a:lnSpc>
                <a:spcPct val="120000"/>
              </a:lnSpc>
              <a:spcAft>
                <a:spcPts val="1200"/>
              </a:spcAft>
              <a:defRPr sz="2200">
                <a:solidFill>
                  <a:srgbClr val="F8F8F2"/>
                </a:solidFill>
                <a:latin typeface="Malgun Gothic"/>
              </a:defRPr>
            </a:pPr>
            <a:r>
              <a:t>**비유**: 우리 도서관(내 서버)에 없는 책을 국회도서관(공공데이터포털)에서 빌려와 보여주는 것</a:t>
            </a:r>
          </a:p>
          <a:p>
            <a:pPr>
              <a:lnSpc>
                <a:spcPct val="120000"/>
              </a:lnSpc>
              <a:spcAft>
                <a:spcPts val="1200"/>
              </a:spcAft>
              <a:defRPr sz="2200">
                <a:solidFill>
                  <a:srgbClr val="F8F8F2"/>
                </a:solidFill>
                <a:latin typeface="Malgun Gothic"/>
              </a:defRPr>
            </a:pPr>
            <a:r>
              <a:t>**필수 요소**: 요청(Request), 응답(Response), 키(Key - 출입증)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데이터는 어떻게 흐를까? (Part 1 핵심)</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1. **공공데이터포털** (Source)</a:t>
            </a:r>
          </a:p>
          <a:p>
            <a:pPr>
              <a:lnSpc>
                <a:spcPct val="120000"/>
              </a:lnSpc>
              <a:spcAft>
                <a:spcPts val="1200"/>
              </a:spcAft>
              <a:defRPr sz="2200">
                <a:solidFill>
                  <a:srgbClr val="F8F8F2"/>
                </a:solidFill>
                <a:latin typeface="Malgun Gothic"/>
              </a:defRPr>
            </a:pPr>
            <a:r>
              <a:t>2. **PublicApiService** (요청/수신)</a:t>
            </a:r>
          </a:p>
          <a:p>
            <a:pPr>
              <a:lnSpc>
                <a:spcPct val="120000"/>
              </a:lnSpc>
              <a:spcAft>
                <a:spcPts val="1200"/>
              </a:spcAft>
              <a:defRPr sz="2200">
                <a:solidFill>
                  <a:srgbClr val="F8F8F2"/>
                </a:solidFill>
                <a:latin typeface="Malgun Gothic"/>
              </a:defRPr>
            </a:pPr>
            <a:r>
              <a:t>3. **AnimalSyncService** (가공/저장)</a:t>
            </a:r>
          </a:p>
          <a:p>
            <a:pPr>
              <a:lnSpc>
                <a:spcPct val="120000"/>
              </a:lnSpc>
              <a:spcAft>
                <a:spcPts val="1200"/>
              </a:spcAft>
              <a:defRPr sz="2200">
                <a:solidFill>
                  <a:srgbClr val="F8F8F2"/>
                </a:solidFill>
                <a:latin typeface="Malgun Gothic"/>
              </a:defRPr>
            </a:pPr>
            <a:r>
              <a:t>4. **PostgreSQL DB** (저장소)</a:t>
            </a:r>
          </a:p>
          <a:p>
            <a:pPr>
              <a:lnSpc>
                <a:spcPct val="120000"/>
              </a:lnSpc>
              <a:spcAft>
                <a:spcPts val="1200"/>
              </a:spcAft>
              <a:defRPr sz="2200">
                <a:solidFill>
                  <a:srgbClr val="F8F8F2"/>
                </a:solidFill>
                <a:latin typeface="Malgun Gothic"/>
              </a:defRPr>
            </a:pPr>
            <a:r>
              <a:t>5. **사용자 브라우저** (최종 조회)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320" b="1">
                <a:solidFill>
                  <a:srgbClr val="00F0FF"/>
                </a:solidFill>
                <a:latin typeface="Malgun Gothic"/>
              </a:defRPr>
            </a:pPr>
            <a:r>
              <a:t>데이터 가져오기: PublicApiService</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**URL**: `https://apis.data.go.kr/...`</a:t>
            </a:r>
          </a:p>
          <a:p>
            <a:pPr>
              <a:lnSpc>
                <a:spcPct val="120000"/>
              </a:lnSpc>
              <a:spcAft>
                <a:spcPts val="1200"/>
              </a:spcAft>
              <a:defRPr sz="2200">
                <a:solidFill>
                  <a:srgbClr val="F8F8F2"/>
                </a:solidFill>
                <a:latin typeface="Malgun Gothic"/>
              </a:defRPr>
            </a:pPr>
            <a:r>
              <a:t>**Method**: HTTP GET</a:t>
            </a:r>
          </a:p>
          <a:p>
            <a:pPr>
              <a:lnSpc>
                <a:spcPct val="120000"/>
              </a:lnSpc>
              <a:spcAft>
                <a:spcPts val="1200"/>
              </a:spcAft>
              <a:defRPr sz="2200">
                <a:solidFill>
                  <a:srgbClr val="F8F8F2"/>
                </a:solidFill>
                <a:latin typeface="Malgun Gothic"/>
              </a:defRPr>
            </a:pPr>
            <a:r>
              <a:t>**Parameter**: `serviceKey`(인증), `numOfRows`(개수), `uprCd`(지역) 등</a:t>
            </a:r>
          </a:p>
          <a:p>
            <a:pPr>
              <a:lnSpc>
                <a:spcPct val="120000"/>
              </a:lnSpc>
              <a:spcAft>
                <a:spcPts val="1200"/>
              </a:spcAft>
              <a:defRPr sz="2200">
                <a:solidFill>
                  <a:srgbClr val="F8F8F2"/>
                </a:solidFill>
                <a:latin typeface="Malgun Gothic"/>
              </a:defRPr>
            </a:pPr>
            <a:r>
              <a:t>**Parsing**: JSON 형식의 응답을 Java 객체로 변환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개발자를 울리는 API 응답의 함정</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**문제**: 데이터가 1개일 때는 `Object`, 2개 이상일 때는 `Array`로 옴</a:t>
            </a:r>
          </a:p>
          <a:p>
            <a:pPr>
              <a:lnSpc>
                <a:spcPct val="120000"/>
              </a:lnSpc>
              <a:spcAft>
                <a:spcPts val="1200"/>
              </a:spcAft>
              <a:defRPr sz="2200">
                <a:solidFill>
                  <a:srgbClr val="F8F8F2"/>
                </a:solidFill>
                <a:latin typeface="Malgun Gothic"/>
              </a:defRPr>
            </a:pPr>
            <a:r>
              <a:t>**해결**: `Jackson` 라이브러리의 유연함 또는 커스텀 Deserializer 필요</a:t>
            </a:r>
          </a:p>
          <a:p>
            <a:pPr>
              <a:lnSpc>
                <a:spcPct val="120000"/>
              </a:lnSpc>
              <a:spcAft>
                <a:spcPts val="1200"/>
              </a:spcAft>
              <a:defRPr sz="2200">
                <a:solidFill>
                  <a:srgbClr val="F8F8F2"/>
                </a:solidFill>
                <a:latin typeface="Malgun Gothic"/>
              </a:defRPr>
            </a:pPr>
            <a:r>
              <a:t>**구조**: `response` &gt; `body` &gt; `items` &gt; `item` (깊은 중첩 구조)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40" b="1">
                <a:solidFill>
                  <a:srgbClr val="00F0FF"/>
                </a:solidFill>
                <a:latin typeface="Malgun Gothic"/>
              </a:defRPr>
            </a:pPr>
            <a:r>
              <a:t>Java 객체로 변신: AnimalItem DTO</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**DTO (Data Transfer Object)**: 데이터 운반 전용 객체</a:t>
            </a:r>
          </a:p>
          <a:p>
            <a:pPr>
              <a:lnSpc>
                <a:spcPct val="120000"/>
              </a:lnSpc>
              <a:spcAft>
                <a:spcPts val="1200"/>
              </a:spcAft>
              <a:defRPr sz="2200">
                <a:solidFill>
                  <a:srgbClr val="F8F8F2"/>
                </a:solidFill>
                <a:latin typeface="Malgun Gothic"/>
              </a:defRPr>
            </a:pPr>
            <a:r>
              <a:t>**매핑**: JSON 필드(`desertionNo`) ↔ Java 필드(`desertionNo`)</a:t>
            </a:r>
          </a:p>
          <a:p>
            <a:pPr>
              <a:lnSpc>
                <a:spcPct val="120000"/>
              </a:lnSpc>
              <a:spcAft>
                <a:spcPts val="1200"/>
              </a:spcAft>
              <a:defRPr sz="2200">
                <a:solidFill>
                  <a:srgbClr val="F8F8F2"/>
                </a:solidFill>
                <a:latin typeface="Malgun Gothic"/>
              </a:defRPr>
            </a:pPr>
            <a:r>
              <a:t>**어노테이션**: `@JsonProperty`, `@JsonAlias` 등으로 이름 불일치 해결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동기화의 마법: Upsert 패턴</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**Upsert** = Update + Insert</a:t>
            </a:r>
          </a:p>
          <a:p>
            <a:pPr>
              <a:lnSpc>
                <a:spcPct val="120000"/>
              </a:lnSpc>
              <a:spcAft>
                <a:spcPts val="1200"/>
              </a:spcAft>
              <a:defRPr sz="2200">
                <a:solidFill>
                  <a:srgbClr val="F8F8F2"/>
                </a:solidFill>
                <a:latin typeface="Malgun Gothic"/>
              </a:defRPr>
            </a:pPr>
            <a:r>
              <a:t>**로직**: 유기번호(`desertionNo`)로 DB 조회</a:t>
            </a:r>
          </a:p>
          <a:p>
            <a:pPr>
              <a:lnSpc>
                <a:spcPct val="120000"/>
              </a:lnSpc>
              <a:spcAft>
                <a:spcPts val="1200"/>
              </a:spcAft>
              <a:defRPr sz="2200">
                <a:solidFill>
                  <a:srgbClr val="F8F8F2"/>
                </a:solidFill>
                <a:latin typeface="Malgun Gothic"/>
              </a:defRPr>
            </a:pPr>
            <a:r>
              <a:t>**없으면?** → 신규 등록 (`INSERT`)</a:t>
            </a:r>
          </a:p>
          <a:p>
            <a:pPr>
              <a:lnSpc>
                <a:spcPct val="120000"/>
              </a:lnSpc>
              <a:spcAft>
                <a:spcPts val="1200"/>
              </a:spcAft>
              <a:defRPr sz="2200">
                <a:solidFill>
                  <a:srgbClr val="F8F8F2"/>
                </a:solidFill>
                <a:latin typeface="Malgun Gothic"/>
              </a:defRPr>
            </a:pPr>
            <a:r>
              <a:t>**있으면?** → 정보 갱신 (`UPDATE`)</a:t>
            </a:r>
          </a:p>
          <a:p>
            <a:pPr>
              <a:lnSpc>
                <a:spcPct val="120000"/>
              </a:lnSpc>
              <a:spcAft>
                <a:spcPts val="1200"/>
              </a:spcAft>
              <a:defRPr sz="2200">
                <a:solidFill>
                  <a:srgbClr val="F8F8F2"/>
                </a:solidFill>
                <a:latin typeface="Malgun Gothic"/>
              </a:defRPr>
            </a:pPr>
            <a:r>
              <a:t>**상태가 '종료'면?** → 삭제 (`DELETE`)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데이터 가공: 원석을 보석으로</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**나이 파싱**: "2023(년생)" → `2023` (Integer)</a:t>
            </a:r>
          </a:p>
          <a:p>
            <a:pPr>
              <a:lnSpc>
                <a:spcPct val="120000"/>
              </a:lnSpc>
              <a:spcAft>
                <a:spcPts val="1200"/>
              </a:spcAft>
              <a:defRPr sz="2200">
                <a:solidFill>
                  <a:srgbClr val="F8F8F2"/>
                </a:solidFill>
                <a:latin typeface="Malgun Gothic"/>
              </a:defRPr>
            </a:pPr>
            <a:r>
              <a:t>**체중 파싱**: "5.5(Kg)" → `5.5` (BigDecimal) → **크기 추정** (소형/중형/대형)</a:t>
            </a:r>
          </a:p>
          <a:p>
            <a:pPr>
              <a:lnSpc>
                <a:spcPct val="120000"/>
              </a:lnSpc>
              <a:spcAft>
                <a:spcPts val="1200"/>
              </a:spcAft>
              <a:defRPr sz="2200">
                <a:solidFill>
                  <a:srgbClr val="F8F8F2"/>
                </a:solidFill>
                <a:latin typeface="Malgun Gothic"/>
              </a:defRPr>
            </a:pPr>
            <a:r>
              <a:t>**품종 분류**: "[개] 믹스견" → `DOG`, `믹스견`</a:t>
            </a:r>
          </a:p>
          <a:p>
            <a:pPr>
              <a:lnSpc>
                <a:spcPct val="120000"/>
              </a:lnSpc>
              <a:spcAft>
                <a:spcPts val="1200"/>
              </a:spcAft>
              <a:defRPr sz="2200">
                <a:solidFill>
                  <a:srgbClr val="F8F8F2"/>
                </a:solidFill>
                <a:latin typeface="Malgun Gothic"/>
              </a:defRPr>
            </a:pPr>
            <a:r>
              <a:t>**상태 매핑**: "보호중" → `PROTECTED`, "종료(입양)" → 삭제 대상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우리의 창고: Animal Entity</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**Entity**: DB 테이블과 1:1로 연결되는 자바 클래스</a:t>
            </a:r>
          </a:p>
          <a:p>
            <a:pPr>
              <a:lnSpc>
                <a:spcPct val="120000"/>
              </a:lnSpc>
              <a:spcAft>
                <a:spcPts val="1200"/>
              </a:spcAft>
              <a:defRPr sz="2200">
                <a:solidFill>
                  <a:srgbClr val="F8F8F2"/>
                </a:solidFill>
                <a:latin typeface="Malgun Gothic"/>
              </a:defRPr>
            </a:pPr>
            <a:r>
              <a:t>**주요 필드**: `species`(개/고양이), `status`(상태), `shelter`(보호소)</a:t>
            </a:r>
          </a:p>
          <a:p>
            <a:pPr>
              <a:lnSpc>
                <a:spcPct val="120000"/>
              </a:lnSpc>
              <a:spcAft>
                <a:spcPts val="1200"/>
              </a:spcAft>
              <a:defRPr sz="2200">
                <a:solidFill>
                  <a:srgbClr val="F8F8F2"/>
                </a:solidFill>
                <a:latin typeface="Malgun Gothic"/>
              </a:defRPr>
            </a:pPr>
            <a:r>
              <a:t>**Shelter 관계**: `ManyToOne` (하나의 보호소 - 여러 마리 동물)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잠든 사이에도 일하는 서버: 스케줄러</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**Scheduler**: 정해진 시간에 코드 자동 실행</a:t>
            </a:r>
          </a:p>
          <a:p>
            <a:pPr>
              <a:lnSpc>
                <a:spcPct val="120000"/>
              </a:lnSpc>
              <a:spcAft>
                <a:spcPts val="1200"/>
              </a:spcAft>
              <a:defRPr sz="2200">
                <a:solidFill>
                  <a:srgbClr val="F8F8F2"/>
                </a:solidFill>
                <a:latin typeface="Malgun Gothic"/>
              </a:defRPr>
            </a:pPr>
            <a:r>
              <a:t>**설정**: `@Scheduled(cron = "0 0 2 * * *")` → 매일 새벽 2시</a:t>
            </a:r>
          </a:p>
          <a:p>
            <a:pPr>
              <a:lnSpc>
                <a:spcPct val="120000"/>
              </a:lnSpc>
              <a:spcAft>
                <a:spcPts val="1200"/>
              </a:spcAft>
              <a:defRPr sz="2200">
                <a:solidFill>
                  <a:srgbClr val="F8F8F2"/>
                </a:solidFill>
                <a:latin typeface="Malgun Gothic"/>
              </a:defRPr>
            </a:pPr>
            <a:r>
              <a:t>**역할**: 매일 밤, 새로운 유기동물 정보를 업데이트해둠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사용자에게 보여주기: 조회 API</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**Endpoint**: `GET /api/animals`</a:t>
            </a:r>
          </a:p>
          <a:p>
            <a:pPr>
              <a:lnSpc>
                <a:spcPct val="120000"/>
              </a:lnSpc>
              <a:spcAft>
                <a:spcPts val="1200"/>
              </a:spcAft>
              <a:defRPr sz="2200">
                <a:solidFill>
                  <a:srgbClr val="F8F8F2"/>
                </a:solidFill>
                <a:latin typeface="Malgun Gothic"/>
              </a:defRPr>
            </a:pPr>
            <a:r>
              <a:t>**기능**: 검색, 필터링 (지역, 품종, 크기), 정렬, 페이징</a:t>
            </a:r>
          </a:p>
          <a:p>
            <a:pPr>
              <a:lnSpc>
                <a:spcPct val="120000"/>
              </a:lnSpc>
              <a:spcAft>
                <a:spcPts val="1200"/>
              </a:spcAft>
              <a:defRPr sz="2200">
                <a:solidFill>
                  <a:srgbClr val="F8F8F2"/>
                </a:solidFill>
                <a:latin typeface="Malgun Gothic"/>
              </a:defRPr>
            </a:pPr>
            <a:r>
              <a:t>**QueryDSL**: 복잡한 검색 조건을 동적으로 생성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나에게 딱 맞는 친구 찾기: 추천 시스템</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**개인화**: 사용자가 설정한 선호도(품종, 크기 등) 반영</a:t>
            </a:r>
          </a:p>
          <a:p>
            <a:pPr>
              <a:lnSpc>
                <a:spcPct val="120000"/>
              </a:lnSpc>
              <a:spcAft>
                <a:spcPts val="1200"/>
              </a:spcAft>
              <a:defRPr sz="2200">
                <a:solidFill>
                  <a:srgbClr val="F8F8F2"/>
                </a:solidFill>
                <a:latin typeface="Malgun Gothic"/>
              </a:defRPr>
            </a:pPr>
            <a:r>
              <a:t>**알고리즘**: 선호 조건과 일치하는 동물 우선 노출</a:t>
            </a:r>
          </a:p>
          <a:p>
            <a:pPr>
              <a:lnSpc>
                <a:spcPct val="120000"/>
              </a:lnSpc>
              <a:spcAft>
                <a:spcPts val="1200"/>
              </a:spcAft>
              <a:defRPr sz="2200">
                <a:solidFill>
                  <a:srgbClr val="F8F8F2"/>
                </a:solidFill>
                <a:latin typeface="Malgun Gothic"/>
              </a:defRPr>
            </a:pPr>
            <a:r>
              <a:t>**Endpoint**: `GET /api/animals/recommendations`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React로 만드는 목록 화면</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**컴포넌트**: `AnimalsPage.tsx`</a:t>
            </a:r>
          </a:p>
          <a:p>
            <a:pPr>
              <a:lnSpc>
                <a:spcPct val="120000"/>
              </a:lnSpc>
              <a:spcAft>
                <a:spcPts val="1200"/>
              </a:spcAft>
              <a:defRPr sz="2200">
                <a:solidFill>
                  <a:srgbClr val="F8F8F2"/>
                </a:solidFill>
                <a:latin typeface="Malgun Gothic"/>
              </a:defRPr>
            </a:pPr>
            <a:r>
              <a:t>**기능**: 필터 사이드바 + 동물 카드 그리드</a:t>
            </a:r>
          </a:p>
          <a:p>
            <a:pPr>
              <a:lnSpc>
                <a:spcPct val="120000"/>
              </a:lnSpc>
              <a:spcAft>
                <a:spcPts val="1200"/>
              </a:spcAft>
              <a:defRPr sz="2200">
                <a:solidFill>
                  <a:srgbClr val="F8F8F2"/>
                </a:solidFill>
                <a:latin typeface="Malgun Gothic"/>
              </a:defRPr>
            </a:pPr>
            <a:r>
              <a:t>**UX**: 무한 스크롤 대신 '더보기' 또는 페이지네이션</a:t>
            </a:r>
          </a:p>
          <a:p>
            <a:pPr>
              <a:lnSpc>
                <a:spcPct val="120000"/>
              </a:lnSpc>
              <a:spcAft>
                <a:spcPts val="1200"/>
              </a:spcAft>
              <a:defRPr sz="2200">
                <a:solidFill>
                  <a:srgbClr val="F8F8F2"/>
                </a:solidFill>
                <a:latin typeface="Malgun Gothic"/>
              </a:defRPr>
            </a:pPr>
            <a:r>
              <a:t>**상호작용**: 하트(찜) 누르면 관심 목록 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080" b="1">
                <a:solidFill>
                  <a:srgbClr val="00F0FF"/>
                </a:solidFill>
                <a:latin typeface="Malgun Gothic"/>
              </a:defRPr>
            </a:pPr>
            <a:r>
              <a:t>Part 1의 끝, Part 2의 시작: 상세 페이지</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**정보**: 상세 특징, 구조 장소, 담당자 연락처</a:t>
            </a:r>
          </a:p>
          <a:p>
            <a:pPr>
              <a:lnSpc>
                <a:spcPct val="120000"/>
              </a:lnSpc>
              <a:spcAft>
                <a:spcPts val="1200"/>
              </a:spcAft>
              <a:defRPr sz="2200">
                <a:solidFill>
                  <a:srgbClr val="F8F8F2"/>
                </a:solidFill>
                <a:latin typeface="Malgun Gothic"/>
              </a:defRPr>
            </a:pPr>
            <a:r>
              <a:t>**도구**: 카카오맵(보호소 위치), 유기번호 복사 기능</a:t>
            </a:r>
          </a:p>
          <a:p>
            <a:pPr>
              <a:lnSpc>
                <a:spcPct val="120000"/>
              </a:lnSpc>
              <a:spcAft>
                <a:spcPts val="1200"/>
              </a:spcAft>
              <a:defRPr sz="2200">
                <a:solidFill>
                  <a:srgbClr val="F8F8F2"/>
                </a:solidFill>
                <a:latin typeface="Malgun Gothic"/>
              </a:defRPr>
            </a:pPr>
            <a:r>
              <a:t>**CTA (Call To Action)**: **"입양 신청하기"** 버튼</a:t>
            </a:r>
          </a:p>
          <a:p>
            <a:pPr>
              <a:lnSpc>
                <a:spcPct val="120000"/>
              </a:lnSpc>
              <a:spcAft>
                <a:spcPts val="1200"/>
              </a:spcAft>
              <a:defRPr sz="2200">
                <a:solidFill>
                  <a:srgbClr val="F8F8F2"/>
                </a:solidFill>
                <a:latin typeface="Malgun Gothic"/>
              </a:defRPr>
            </a:pPr>
            <a:r>
              <a:t>**연결고리**: 여기서 클릭하면 입양 프로세스(Part 2)로 진입!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Part 2: 입양 및 임시보호 시스템</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입양과 임시보호의 차이</a:t>
            </a:r>
          </a:p>
          <a:p>
            <a:pPr>
              <a:lnSpc>
                <a:spcPct val="120000"/>
              </a:lnSpc>
              <a:spcAft>
                <a:spcPts val="1200"/>
              </a:spcAft>
              <a:defRPr sz="2200">
                <a:solidFill>
                  <a:srgbClr val="F8F8F2"/>
                </a:solidFill>
                <a:latin typeface="Malgun Gothic"/>
              </a:defRPr>
            </a:pPr>
            <a:r>
              <a:t>신청부터 승인까지의 워크플로우</a:t>
            </a:r>
          </a:p>
          <a:p>
            <a:pPr>
              <a:lnSpc>
                <a:spcPct val="120000"/>
              </a:lnSpc>
              <a:spcAft>
                <a:spcPts val="1200"/>
              </a:spcAft>
              <a:defRPr sz="2200">
                <a:solidFill>
                  <a:srgbClr val="F8F8F2"/>
                </a:solidFill>
                <a:latin typeface="Malgun Gothic"/>
              </a:defRPr>
            </a:pPr>
            <a:r>
              <a:t>관리자 기능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두 가지의 길: 입양과 임시보호</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**입양 (Adoption)**: 평생 가족이 되는 것</a:t>
            </a:r>
          </a:p>
          <a:p>
            <a:pPr>
              <a:lnSpc>
                <a:spcPct val="120000"/>
              </a:lnSpc>
              <a:spcAft>
                <a:spcPts val="1200"/>
              </a:spcAft>
              <a:defRPr sz="2200">
                <a:solidFill>
                  <a:srgbClr val="F8F8F2"/>
                </a:solidFill>
                <a:latin typeface="Malgun Gothic"/>
              </a:defRPr>
            </a:pPr>
            <a:r>
              <a:t>**임시보호 (Fostering)**: 입양 갈 때까지 잠시 돌봐주는 것</a:t>
            </a:r>
          </a:p>
          <a:p>
            <a:pPr>
              <a:lnSpc>
                <a:spcPct val="120000"/>
              </a:lnSpc>
              <a:spcAft>
                <a:spcPts val="1200"/>
              </a:spcAft>
              <a:defRPr sz="2200">
                <a:solidFill>
                  <a:srgbClr val="F8F8F2"/>
                </a:solidFill>
                <a:latin typeface="Malgun Gothic"/>
              </a:defRPr>
            </a:pPr>
            <a:r>
              <a:t>**공통점**: 신청서 작성 → 심사 → 승인 절차 동일</a:t>
            </a:r>
          </a:p>
          <a:p>
            <a:pPr>
              <a:lnSpc>
                <a:spcPct val="120000"/>
              </a:lnSpc>
              <a:spcAft>
                <a:spcPts val="1200"/>
              </a:spcAft>
              <a:defRPr sz="2200">
                <a:solidFill>
                  <a:srgbClr val="F8F8F2"/>
                </a:solidFill>
                <a:latin typeface="Malgun Gothic"/>
              </a:defRPr>
            </a:pPr>
            <a:r>
              <a:t>**설계**: 하나의 테이블, 하나의 로직으로 통합 관리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신청서 양식: Adoption Entity</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**Adoption Type**: `ADOPTION` / `FOSTERING` (Enum)</a:t>
            </a:r>
          </a:p>
          <a:p>
            <a:pPr>
              <a:lnSpc>
                <a:spcPct val="120000"/>
              </a:lnSpc>
              <a:spcAft>
                <a:spcPts val="1200"/>
              </a:spcAft>
              <a:defRPr sz="2200">
                <a:solidFill>
                  <a:srgbClr val="F8F8F2"/>
                </a:solidFill>
                <a:latin typeface="Malgun Gothic"/>
              </a:defRPr>
            </a:pPr>
            <a:r>
              <a:t>**Status**: `PENDING`(대기) → `APPROVED`(승인) 등</a:t>
            </a:r>
          </a:p>
          <a:p>
            <a:pPr>
              <a:lnSpc>
                <a:spcPct val="120000"/>
              </a:lnSpc>
              <a:spcAft>
                <a:spcPts val="1200"/>
              </a:spcAft>
              <a:defRPr sz="2200">
                <a:solidFill>
                  <a:srgbClr val="F8F8F2"/>
                </a:solidFill>
                <a:latin typeface="Malgun Gothic"/>
              </a:defRPr>
            </a:pPr>
            <a:r>
              <a:t>**관계**: User(신청자) + Animal(대상 동물)</a:t>
            </a:r>
          </a:p>
          <a:p>
            <a:pPr>
              <a:lnSpc>
                <a:spcPct val="120000"/>
              </a:lnSpc>
              <a:spcAft>
                <a:spcPts val="1200"/>
              </a:spcAft>
              <a:defRPr sz="2200">
                <a:solidFill>
                  <a:srgbClr val="F8F8F2"/>
                </a:solidFill>
                <a:latin typeface="Malgun Gothic"/>
              </a:defRPr>
            </a:pPr>
            <a:r>
              <a:t>**필드**: 신청 사유, 주거 환경, 가족 동의 여부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상태의 흐름: 상태 머신</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000">
                <a:solidFill>
                  <a:srgbClr val="F8F8F2"/>
                </a:solidFill>
                <a:latin typeface="Malgun Gothic"/>
              </a:defRPr>
            </a:pPr>
            <a:r>
              <a:t>**Enum AdoptionStatus**:</a:t>
            </a:r>
          </a:p>
          <a:p>
            <a:pPr>
              <a:lnSpc>
                <a:spcPct val="120000"/>
              </a:lnSpc>
              <a:spcAft>
                <a:spcPts val="1200"/>
              </a:spcAft>
              <a:defRPr sz="2000">
                <a:solidFill>
                  <a:srgbClr val="F8F8F2"/>
                </a:solidFill>
                <a:latin typeface="Malgun Gothic"/>
              </a:defRPr>
            </a:pPr>
            <a:r>
              <a:t>`PENDING` (접수 대기)</a:t>
            </a:r>
          </a:p>
          <a:p>
            <a:pPr>
              <a:lnSpc>
                <a:spcPct val="120000"/>
              </a:lnSpc>
              <a:spcAft>
                <a:spcPts val="1200"/>
              </a:spcAft>
              <a:defRPr sz="2000">
                <a:solidFill>
                  <a:srgbClr val="F8F8F2"/>
                </a:solidFill>
                <a:latin typeface="Malgun Gothic"/>
              </a:defRPr>
            </a:pPr>
            <a:r>
              <a:t>`APPROVED` (승인 완료)</a:t>
            </a:r>
          </a:p>
          <a:p>
            <a:pPr>
              <a:lnSpc>
                <a:spcPct val="120000"/>
              </a:lnSpc>
              <a:spcAft>
                <a:spcPts val="1200"/>
              </a:spcAft>
              <a:defRPr sz="2000">
                <a:solidFill>
                  <a:srgbClr val="F8F8F2"/>
                </a:solidFill>
                <a:latin typeface="Malgun Gothic"/>
              </a:defRPr>
            </a:pPr>
            <a:r>
              <a:t>`REJECTED` (거절됨)</a:t>
            </a:r>
          </a:p>
          <a:p>
            <a:pPr>
              <a:lnSpc>
                <a:spcPct val="120000"/>
              </a:lnSpc>
              <a:spcAft>
                <a:spcPts val="1200"/>
              </a:spcAft>
              <a:defRPr sz="2000">
                <a:solidFill>
                  <a:srgbClr val="F8F8F2"/>
                </a:solidFill>
                <a:latin typeface="Malgun Gothic"/>
              </a:defRPr>
            </a:pPr>
            <a:r>
              <a:t>`CANCELLED` (사용자 취소)</a:t>
            </a:r>
          </a:p>
          <a:p>
            <a:pPr>
              <a:lnSpc>
                <a:spcPct val="120000"/>
              </a:lnSpc>
              <a:spcAft>
                <a:spcPts val="1200"/>
              </a:spcAft>
              <a:defRPr sz="2000">
                <a:solidFill>
                  <a:srgbClr val="F8F8F2"/>
                </a:solidFill>
                <a:latin typeface="Malgun Gothic"/>
              </a:defRPr>
            </a:pPr>
            <a:r>
              <a:t>**Rule**: `PENDING` 상태에서만 다른 상태로 변경 가능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사용자는 어떻게 신청할까?</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1. 동물 상세 페이지에서 신청 버튼 클릭</a:t>
            </a:r>
          </a:p>
          <a:p>
            <a:pPr>
              <a:lnSpc>
                <a:spcPct val="120000"/>
              </a:lnSpc>
              <a:spcAft>
                <a:spcPts val="1200"/>
              </a:spcAft>
              <a:defRPr sz="2200">
                <a:solidFill>
                  <a:srgbClr val="F8F8F2"/>
                </a:solidFill>
                <a:latin typeface="Malgun Gothic"/>
              </a:defRPr>
            </a:pPr>
            <a:r>
              <a:t>2. 신청 양식 작성 (주거환경, 경험 등)</a:t>
            </a:r>
          </a:p>
          <a:p>
            <a:pPr>
              <a:lnSpc>
                <a:spcPct val="120000"/>
              </a:lnSpc>
              <a:spcAft>
                <a:spcPts val="1200"/>
              </a:spcAft>
              <a:defRPr sz="2200">
                <a:solidFill>
                  <a:srgbClr val="F8F8F2"/>
                </a:solidFill>
                <a:latin typeface="Malgun Gothic"/>
              </a:defRPr>
            </a:pPr>
            <a:r>
              <a:t>3. "신청하기" 클릭 → 서버로 전송</a:t>
            </a:r>
          </a:p>
          <a:p>
            <a:pPr>
              <a:lnSpc>
                <a:spcPct val="120000"/>
              </a:lnSpc>
              <a:spcAft>
                <a:spcPts val="1200"/>
              </a:spcAft>
              <a:defRPr sz="2200">
                <a:solidFill>
                  <a:srgbClr val="F8F8F2"/>
                </a:solidFill>
                <a:latin typeface="Malgun Gothic"/>
              </a:defRPr>
            </a:pPr>
            <a:r>
              <a:t>4. "접수되었습니다" 메시지 및 이메일 수신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코드 속으로: apply() 메서드</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1. **검증**: 유효한 사용자인가? 동물이 존재하는가?</a:t>
            </a:r>
          </a:p>
          <a:p>
            <a:pPr>
              <a:lnSpc>
                <a:spcPct val="120000"/>
              </a:lnSpc>
              <a:spcAft>
                <a:spcPts val="1200"/>
              </a:spcAft>
              <a:defRPr sz="2200">
                <a:solidFill>
                  <a:srgbClr val="F8F8F2"/>
                </a:solidFill>
                <a:latin typeface="Malgun Gothic"/>
              </a:defRPr>
            </a:pPr>
            <a:r>
              <a:t>2. **생성**: `Adoption` 객체 생성 (`PENDING` 상태)</a:t>
            </a:r>
          </a:p>
          <a:p>
            <a:pPr>
              <a:lnSpc>
                <a:spcPct val="120000"/>
              </a:lnSpc>
              <a:spcAft>
                <a:spcPts val="1200"/>
              </a:spcAft>
              <a:defRPr sz="2200">
                <a:solidFill>
                  <a:srgbClr val="F8F8F2"/>
                </a:solidFill>
                <a:latin typeface="Malgun Gothic"/>
              </a:defRPr>
            </a:pPr>
            <a:r>
              <a:t>3. **저장**: `repository.save()`</a:t>
            </a:r>
          </a:p>
          <a:p>
            <a:pPr>
              <a:lnSpc>
                <a:spcPct val="120000"/>
              </a:lnSpc>
              <a:spcAft>
                <a:spcPts val="1200"/>
              </a:spcAft>
              <a:defRPr sz="2200">
                <a:solidFill>
                  <a:srgbClr val="F8F8F2"/>
                </a:solidFill>
                <a:latin typeface="Malgun Gothic"/>
              </a:defRPr>
            </a:pPr>
            <a:r>
              <a:t>4. **알림**: 신청자에게 이메일, 관리자에게 알림 전송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심판의 시간: 관리자 승인/거절</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**승인**: `PUT /api/adoptions/{id}/approve`</a:t>
            </a:r>
          </a:p>
          <a:p>
            <a:pPr>
              <a:lnSpc>
                <a:spcPct val="120000"/>
              </a:lnSpc>
              <a:spcAft>
                <a:spcPts val="1200"/>
              </a:spcAft>
              <a:defRPr sz="2200">
                <a:solidFill>
                  <a:srgbClr val="F8F8F2"/>
                </a:solidFill>
                <a:latin typeface="Malgun Gothic"/>
              </a:defRPr>
            </a:pPr>
            <a:r>
              <a:t>PENDING 확인 → Status 변경(APPROVED) → 승인 메일 발송</a:t>
            </a:r>
          </a:p>
          <a:p>
            <a:pPr>
              <a:lnSpc>
                <a:spcPct val="120000"/>
              </a:lnSpc>
              <a:spcAft>
                <a:spcPts val="1200"/>
              </a:spcAft>
              <a:defRPr sz="2200">
                <a:solidFill>
                  <a:srgbClr val="F8F8F2"/>
                </a:solidFill>
                <a:latin typeface="Malgun Gothic"/>
              </a:defRPr>
            </a:pPr>
            <a:r>
              <a:t>**거절**: `PUT /api/adoptions/{id}/reject`</a:t>
            </a:r>
          </a:p>
          <a:p>
            <a:pPr>
              <a:lnSpc>
                <a:spcPct val="120000"/>
              </a:lnSpc>
              <a:spcAft>
                <a:spcPts val="1200"/>
              </a:spcAft>
              <a:defRPr sz="2200">
                <a:solidFill>
                  <a:srgbClr val="F8F8F2"/>
                </a:solidFill>
                <a:latin typeface="Malgun Gothic"/>
              </a:defRPr>
            </a:pPr>
            <a:r>
              <a:t>PENDING 확인 → Status 변경(REJECTED) + 거절 사유 기록 → 거절 메일 발송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소식 전달하기: 이메일 &amp; 알림</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**이메일**: `Resend` API 사용 (외부 서비스)</a:t>
            </a:r>
          </a:p>
          <a:p>
            <a:pPr>
              <a:lnSpc>
                <a:spcPct val="120000"/>
              </a:lnSpc>
              <a:spcAft>
                <a:spcPts val="1200"/>
              </a:spcAft>
              <a:defRPr sz="2200">
                <a:solidFill>
                  <a:srgbClr val="F8F8F2"/>
                </a:solidFill>
                <a:latin typeface="Malgun Gothic"/>
              </a:defRPr>
            </a:pPr>
            <a:r>
              <a:t>HTML 템플릿으로 예쁜 메일 발송</a:t>
            </a:r>
          </a:p>
          <a:p>
            <a:pPr>
              <a:lnSpc>
                <a:spcPct val="120000"/>
              </a:lnSpc>
              <a:spcAft>
                <a:spcPts val="1200"/>
              </a:spcAft>
              <a:defRPr sz="2200">
                <a:solidFill>
                  <a:srgbClr val="F8F8F2"/>
                </a:solidFill>
                <a:latin typeface="Malgun Gothic"/>
              </a:defRPr>
            </a:pPr>
            <a:r>
              <a:t>**인앱 알림**: `NotificationService`</a:t>
            </a:r>
          </a:p>
          <a:p>
            <a:pPr>
              <a:lnSpc>
                <a:spcPct val="120000"/>
              </a:lnSpc>
              <a:spcAft>
                <a:spcPts val="1200"/>
              </a:spcAft>
              <a:defRPr sz="2200">
                <a:solidFill>
                  <a:srgbClr val="F8F8F2"/>
                </a:solidFill>
                <a:latin typeface="Malgun Gothic"/>
              </a:defRPr>
            </a:pPr>
            <a:r>
              <a:t>웹사이트 상단 종 모양 아이콘에 빨간 점 표시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프론트엔드와 백엔드의 약속</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**adoption.ts**: 입양 관련 API만 모아둔 파일</a:t>
            </a:r>
          </a:p>
          <a:p>
            <a:pPr>
              <a:lnSpc>
                <a:spcPct val="120000"/>
              </a:lnSpc>
              <a:spcAft>
                <a:spcPts val="1200"/>
              </a:spcAft>
              <a:defRPr sz="2200">
                <a:solidFill>
                  <a:srgbClr val="F8F8F2"/>
                </a:solidFill>
                <a:latin typeface="Malgun Gothic"/>
              </a:defRPr>
            </a:pPr>
            <a:r>
              <a:t>**Type-Safety**: TypeScript Interface로 요청/응답 타입 정의</a:t>
            </a:r>
          </a:p>
          <a:p>
            <a:pPr>
              <a:lnSpc>
                <a:spcPct val="120000"/>
              </a:lnSpc>
              <a:spcAft>
                <a:spcPts val="1200"/>
              </a:spcAft>
              <a:defRPr sz="2200">
                <a:solidFill>
                  <a:srgbClr val="F8F8F2"/>
                </a:solidFill>
                <a:latin typeface="Malgun Gothic"/>
              </a:defRPr>
            </a:pPr>
            <a:r>
              <a:t>`AdoptionRequest`, `AdoptionResponse`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친절한 안내서: 가이드 페이지</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**UX**: 신청 전 절차를 명확히 안내하여 심리적 장벽 낮춤</a:t>
            </a:r>
          </a:p>
          <a:p>
            <a:pPr>
              <a:lnSpc>
                <a:spcPct val="120000"/>
              </a:lnSpc>
              <a:spcAft>
                <a:spcPts val="1200"/>
              </a:spcAft>
              <a:defRPr sz="2200">
                <a:solidFill>
                  <a:srgbClr val="F8F8F2"/>
                </a:solidFill>
                <a:latin typeface="Malgun Gothic"/>
              </a:defRPr>
            </a:pPr>
            <a:r>
              <a:t>**입양 가이드**: 6단계 (녹색 테마)</a:t>
            </a:r>
          </a:p>
          <a:p>
            <a:pPr>
              <a:lnSpc>
                <a:spcPct val="120000"/>
              </a:lnSpc>
              <a:spcAft>
                <a:spcPts val="1200"/>
              </a:spcAft>
              <a:defRPr sz="2200">
                <a:solidFill>
                  <a:srgbClr val="F8F8F2"/>
                </a:solidFill>
                <a:latin typeface="Malgun Gothic"/>
              </a:defRPr>
            </a:pPr>
            <a:r>
              <a:t>**임보 가이드**: 4단계 (파란색 테마)</a:t>
            </a:r>
          </a:p>
          <a:p>
            <a:pPr>
              <a:lnSpc>
                <a:spcPct val="120000"/>
              </a:lnSpc>
              <a:spcAft>
                <a:spcPts val="1200"/>
              </a:spcAft>
              <a:defRPr sz="2200">
                <a:solidFill>
                  <a:srgbClr val="F8F8F2"/>
                </a:solidFill>
                <a:latin typeface="Malgun Gothic"/>
              </a:defRPr>
            </a:pPr>
            <a:r>
              <a:t>**재사용성**: 비슷한 구조지만 색상과 내용만 다르게 구현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080" b="1">
                <a:solidFill>
                  <a:srgbClr val="00F0FF"/>
                </a:solidFill>
                <a:latin typeface="Malgun Gothic"/>
              </a:defRPr>
            </a:pPr>
            <a:r>
              <a:t>작은 컴포넌트의 큰 역할: GuideCallBlock</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**기능**: 보호소 정보 + 유기번호 표시 + 복사 기능</a:t>
            </a:r>
          </a:p>
          <a:p>
            <a:pPr>
              <a:lnSpc>
                <a:spcPct val="120000"/>
              </a:lnSpc>
              <a:spcAft>
                <a:spcPts val="1200"/>
              </a:spcAft>
              <a:defRPr sz="2200">
                <a:solidFill>
                  <a:srgbClr val="F8F8F2"/>
                </a:solidFill>
                <a:latin typeface="Malgun Gothic"/>
              </a:defRPr>
            </a:pPr>
            <a:r>
              <a:t>**재사용**: 입양/임보 가이드 양쪽에서 똑같이 사용</a:t>
            </a:r>
          </a:p>
          <a:p>
            <a:pPr>
              <a:lnSpc>
                <a:spcPct val="120000"/>
              </a:lnSpc>
              <a:spcAft>
                <a:spcPts val="1200"/>
              </a:spcAft>
              <a:defRPr sz="2200">
                <a:solidFill>
                  <a:srgbClr val="F8F8F2"/>
                </a:solidFill>
                <a:latin typeface="Malgun Gothic"/>
              </a:defRPr>
            </a:pPr>
            <a:r>
              <a:t>**UX 디테일**: 클릭 한번으로 유기번호 복사 (전화 문의 시 필수)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한눈에 보는 전체 흐름 (Summary)</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000">
                <a:solidFill>
                  <a:srgbClr val="F8F8F2"/>
                </a:solidFill>
                <a:latin typeface="Malgun Gothic"/>
              </a:defRPr>
            </a:pPr>
            <a:r>
              <a:t>1. `User`: 상세 페이지 진입</a:t>
            </a:r>
          </a:p>
          <a:p>
            <a:pPr>
              <a:lnSpc>
                <a:spcPct val="120000"/>
              </a:lnSpc>
              <a:spcAft>
                <a:spcPts val="1200"/>
              </a:spcAft>
              <a:defRPr sz="2000">
                <a:solidFill>
                  <a:srgbClr val="F8F8F2"/>
                </a:solidFill>
                <a:latin typeface="Malgun Gothic"/>
              </a:defRPr>
            </a:pPr>
            <a:r>
              <a:t>2. `Frontend`: 입양 가이드 확인 → 신청 폼 작성 및 제출</a:t>
            </a:r>
          </a:p>
          <a:p>
            <a:pPr>
              <a:lnSpc>
                <a:spcPct val="120000"/>
              </a:lnSpc>
              <a:spcAft>
                <a:spcPts val="1200"/>
              </a:spcAft>
              <a:defRPr sz="2000">
                <a:solidFill>
                  <a:srgbClr val="F8F8F2"/>
                </a:solidFill>
                <a:latin typeface="Malgun Gothic"/>
              </a:defRPr>
            </a:pPr>
            <a:r>
              <a:t>3. `Backend`: 신청서 저장(PENDING) → 이메일 발송</a:t>
            </a:r>
          </a:p>
          <a:p>
            <a:pPr>
              <a:lnSpc>
                <a:spcPct val="120000"/>
              </a:lnSpc>
              <a:spcAft>
                <a:spcPts val="1200"/>
              </a:spcAft>
              <a:defRPr sz="2000">
                <a:solidFill>
                  <a:srgbClr val="F8F8F2"/>
                </a:solidFill>
                <a:latin typeface="Malgun Gothic"/>
              </a:defRPr>
            </a:pPr>
            <a:r>
              <a:t>4. `Admin`: 신청서 확인 → 승인(APPROVED)</a:t>
            </a:r>
          </a:p>
          <a:p>
            <a:pPr>
              <a:lnSpc>
                <a:spcPct val="120000"/>
              </a:lnSpc>
              <a:spcAft>
                <a:spcPts val="1200"/>
              </a:spcAft>
              <a:defRPr sz="2000">
                <a:solidFill>
                  <a:srgbClr val="F8F8F2"/>
                </a:solidFill>
                <a:latin typeface="Malgun Gothic"/>
              </a:defRPr>
            </a:pPr>
            <a:r>
              <a:t>5. `Backend`: 승인 처리 → DB 갱신 → 결과 통보</a:t>
            </a:r>
          </a:p>
          <a:p>
            <a:pPr>
              <a:lnSpc>
                <a:spcPct val="120000"/>
              </a:lnSpc>
              <a:spcAft>
                <a:spcPts val="1200"/>
              </a:spcAft>
              <a:defRPr sz="2000">
                <a:solidFill>
                  <a:srgbClr val="F8F8F2"/>
                </a:solidFill>
                <a:latin typeface="Malgun Gothic"/>
              </a:defRPr>
            </a:pPr>
            <a:r>
              <a:t>6. `User`: 입양 확정 및 동물 인수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완벽을 위한 마무리: 검증과 에러 처리</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**Validation**: `@Valid`로 필수 입력값 체크 (빈칸 방지)</a:t>
            </a:r>
          </a:p>
          <a:p>
            <a:pPr>
              <a:lnSpc>
                <a:spcPct val="120000"/>
              </a:lnSpc>
              <a:spcAft>
                <a:spcPts val="1200"/>
              </a:spcAft>
              <a:defRPr sz="2200">
                <a:solidFill>
                  <a:srgbClr val="F8F8F2"/>
                </a:solidFill>
                <a:latin typeface="Malgun Gothic"/>
              </a:defRPr>
            </a:pPr>
            <a:r>
              <a:t>**Exception**: "이미 신청한 동물입니다", "존재하지 않는 동물입니다"</a:t>
            </a:r>
          </a:p>
          <a:p>
            <a:pPr>
              <a:lnSpc>
                <a:spcPct val="120000"/>
              </a:lnSpc>
              <a:spcAft>
                <a:spcPts val="1200"/>
              </a:spcAft>
              <a:defRPr sz="2200">
                <a:solidFill>
                  <a:srgbClr val="F8F8F2"/>
                </a:solidFill>
                <a:latin typeface="Malgun Gothic"/>
              </a:defRPr>
            </a:pPr>
            <a:r>
              <a:t>**API Key Check**: 서버 시작 시 키 설정 여부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오늘 배운 실무 포인트</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1. **외부 의존성 격리**: API 응답 변경에 대비한 DTO/Wrapper 분리</a:t>
            </a:r>
          </a:p>
          <a:p>
            <a:pPr>
              <a:lnSpc>
                <a:spcPct val="120000"/>
              </a:lnSpc>
              <a:spcAft>
                <a:spcPts val="1200"/>
              </a:spcAft>
              <a:defRPr sz="2200">
                <a:solidFill>
                  <a:srgbClr val="F8F8F2"/>
                </a:solidFill>
                <a:latin typeface="Malgun Gothic"/>
              </a:defRPr>
            </a:pPr>
            <a:r>
              <a:t>2. **동기화 전략**: Upsert로 데이터 정합성 유지</a:t>
            </a:r>
          </a:p>
          <a:p>
            <a:pPr>
              <a:lnSpc>
                <a:spcPct val="120000"/>
              </a:lnSpc>
              <a:spcAft>
                <a:spcPts val="1200"/>
              </a:spcAft>
              <a:defRPr sz="2200">
                <a:solidFill>
                  <a:srgbClr val="F8F8F2"/>
                </a:solidFill>
                <a:latin typeface="Malgun Gothic"/>
              </a:defRPr>
            </a:pPr>
            <a:r>
              <a:t>3. **통합 모델링**: 유사 기능(입양/임보)은 하나의 엔티티 + Enum으로 관리</a:t>
            </a:r>
          </a:p>
          <a:p>
            <a:pPr>
              <a:lnSpc>
                <a:spcPct val="120000"/>
              </a:lnSpc>
              <a:spcAft>
                <a:spcPts val="1200"/>
              </a:spcAft>
              <a:defRPr sz="2200">
                <a:solidFill>
                  <a:srgbClr val="F8F8F2"/>
                </a:solidFill>
                <a:latin typeface="Malgun Gothic"/>
              </a:defRPr>
            </a:pPr>
            <a:r>
              <a:t>4. **상태 관리**: 명확한 상태 전이 규칙(State Machine) 적용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400" b="1">
                <a:solidFill>
                  <a:srgbClr val="00F0FF"/>
                </a:solidFill>
                <a:latin typeface="Malgun Gothic"/>
              </a:defRPr>
            </a:pPr>
            <a:r>
              <a:t>Q&amp;A</a:t>
            </a:r>
          </a:p>
        </p:txBody>
      </p:sp>
      <p:sp>
        <p:nvSpPr>
          <p:cNvPr id="3" name="Rounded Rectangle 2"/>
          <p:cNvSpPr/>
          <p:nvPr/>
        </p:nvSpPr>
        <p:spPr>
          <a:xfrm>
            <a:off x="457200" y="1280160"/>
            <a:ext cx="8229600" cy="3566160"/>
          </a:xfrm>
          <a:prstGeom prst="roundRect">
            <a:avLst>
              <a:gd name="adj" fmla="val 5000"/>
            </a:avLst>
          </a:prstGeom>
          <a:solidFill>
            <a:srgbClr val="1E1E2E"/>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3200400"/>
          </a:xfrm>
          <a:prstGeom prst="rect">
            <a:avLst/>
          </a:prstGeom>
          <a:noFill/>
        </p:spPr>
        <p:txBody>
          <a:bodyPr wrap="square">
            <a:spAutoFit/>
          </a:bodyPr>
          <a:lstStyle/>
          <a:p/>
          <a:p>
            <a:pPr>
              <a:lnSpc>
                <a:spcPct val="120000"/>
              </a:lnSpc>
              <a:spcAft>
                <a:spcPts val="1200"/>
              </a:spcAft>
              <a:defRPr sz="2200">
                <a:solidFill>
                  <a:srgbClr val="F8F8F2"/>
                </a:solidFill>
                <a:latin typeface="Malgun Gothic"/>
              </a:defRPr>
            </a:pPr>
            <a:r>
              <a:t>파트별 질문 접수</a:t>
            </a:r>
          </a:p>
          <a:p>
            <a:pPr>
              <a:lnSpc>
                <a:spcPct val="120000"/>
              </a:lnSpc>
              <a:spcAft>
                <a:spcPts val="1200"/>
              </a:spcAft>
              <a:defRPr sz="2200">
                <a:solidFill>
                  <a:srgbClr val="F8F8F2"/>
                </a:solidFill>
                <a:latin typeface="Malgun Gothic"/>
              </a:defRPr>
            </a:pPr>
            <a:r>
              <a:t>추가 설명이 필요한 부분 보충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