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defRPr sz="4400">
                <a:solidFill>
                  <a:srgbClr val="00F0FF"/>
                </a:solidFill>
                <a:latin typeface="Segoe UI Black"/>
              </a:defRPr>
            </a:pPr>
          </a:p>
        </p:txBody>
      </p:sp>
      <p:sp>
        <p:nvSpPr>
          <p:cNvPr id="3" name="Rectangle 2"/>
          <p:cNvSpPr/>
          <p:nvPr/>
        </p:nvSpPr>
        <p:spPr>
          <a:xfrm>
            <a:off x="3657600" y="347472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defRPr sz="4400">
                <a:solidFill>
                  <a:srgbClr val="00F0FF"/>
                </a:solidFill>
                <a:latin typeface="Segoe UI Black"/>
              </a:defRPr>
            </a:pPr>
            <a:r>
              <a:t>62dn(62댕냥): 유기동물 정보 &amp; 입양/임시보호 기능 완전 정복</a:t>
            </a:r>
          </a:p>
        </p:txBody>
      </p:sp>
      <p:sp>
        <p:nvSpPr>
          <p:cNvPr id="3" name="TextBox 2"/>
          <p:cNvSpPr txBox="1"/>
          <p:nvPr/>
        </p:nvSpPr>
        <p:spPr>
          <a:xfrm>
            <a:off x="1371600" y="3657600"/>
            <a:ext cx="6400800" cy="914400"/>
          </a:xfrm>
          <a:prstGeom prst="rect">
            <a:avLst/>
          </a:prstGeom>
          <a:noFill/>
        </p:spPr>
        <p:txBody>
          <a:bodyPr wrap="square">
            <a:spAutoFit/>
          </a:bodyPr>
          <a:lstStyle/>
          <a:p>
            <a:pPr algn="ctr">
              <a:defRPr sz="2400">
                <a:solidFill>
                  <a:srgbClr val="F8F8F2"/>
                </a:solidFill>
                <a:latin typeface="Segoe UI"/>
              </a:defRPr>
            </a:pPr>
            <a:r>
              <a:t>공공 API 연동부터 입양 신청 관리 시스템까지, 실무 레벨로 파헤치기</a:t>
            </a:r>
          </a:p>
        </p:txBody>
      </p:sp>
      <p:sp>
        <p:nvSpPr>
          <p:cNvPr id="4" name="Rectangle 3"/>
          <p:cNvSpPr/>
          <p:nvPr/>
        </p:nvSpPr>
        <p:spPr>
          <a:xfrm>
            <a:off x="3657600" y="347472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62댕냥(62dn) 프로젝트란?</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**목표**: 유기동물 정보를 한눈에 보고, 입양/임시보호까지 연결하는 플랫폼</a:t>
            </a:r>
          </a:p>
          <a:p>
            <a:pPr>
              <a:spcAft>
                <a:spcPts val="1400"/>
              </a:spcAft>
              <a:defRPr sz="1800">
                <a:solidFill>
                  <a:srgbClr val="F8F8F2"/>
                </a:solidFill>
                <a:latin typeface="Segoe UI"/>
              </a:defRPr>
            </a:pPr>
            <a:r>
              <a:t>**기술 스택**:</a:t>
            </a:r>
          </a:p>
          <a:p>
            <a:pPr>
              <a:spcAft>
                <a:spcPts val="1400"/>
              </a:spcAft>
              <a:defRPr sz="1800">
                <a:solidFill>
                  <a:srgbClr val="F8F8F2"/>
                </a:solidFill>
                <a:latin typeface="Segoe UI"/>
              </a:defRPr>
            </a:pPr>
            <a:r>
              <a:t>Backend: Java 17, Spring Boot 3, JPA, PostgreSQL</a:t>
            </a:r>
          </a:p>
          <a:p>
            <a:pPr>
              <a:spcAft>
                <a:spcPts val="1400"/>
              </a:spcAft>
              <a:defRPr sz="1800">
                <a:solidFill>
                  <a:srgbClr val="F8F8F2"/>
                </a:solidFill>
                <a:latin typeface="Segoe UI"/>
              </a:defRPr>
            </a:pPr>
            <a:r>
              <a:t>Frontend: React, TypeScript, Vite</a:t>
            </a:r>
          </a:p>
          <a:p>
            <a:pPr>
              <a:spcAft>
                <a:spcPts val="1400"/>
              </a:spcAft>
              <a:defRPr sz="1800">
                <a:solidFill>
                  <a:srgbClr val="F8F8F2"/>
                </a:solidFill>
                <a:latin typeface="Segoe UI"/>
              </a:defRPr>
            </a:pPr>
            <a:r>
              <a:t>External: 공공데이터포털 API, 카카오맵, Resend(이메일)</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프로젝트 로고와 메인 화면 스크린샷 1장</a:t>
            </a:r>
            <a:br/>
            <a:r>
              <a:t>- 기술 스택 로고 모음 (Spring Boot, React, PostgreSQL 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외부 API 연동이란?</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**API (Application Programming Interface)**: 프로그램끼리 대화하는 방법</a:t>
            </a:r>
          </a:p>
          <a:p>
            <a:pPr>
              <a:spcAft>
                <a:spcPts val="1400"/>
              </a:spcAft>
              <a:defRPr sz="1800">
                <a:solidFill>
                  <a:srgbClr val="F8F8F2"/>
                </a:solidFill>
                <a:latin typeface="Segoe UI"/>
              </a:defRPr>
            </a:pPr>
            <a:r>
              <a:t>**비유**: 우리 도서관(내 서버)에 없는 책을 국회도서관(공공데이터포털)에서 빌려와 보여주는 것</a:t>
            </a:r>
          </a:p>
          <a:p>
            <a:pPr>
              <a:spcAft>
                <a:spcPts val="1400"/>
              </a:spcAft>
              <a:defRPr sz="1800">
                <a:solidFill>
                  <a:srgbClr val="F8F8F2"/>
                </a:solidFill>
                <a:latin typeface="Segoe UI"/>
              </a:defRPr>
            </a:pPr>
            <a:r>
              <a:t>**필수 요소**: 요청(Request), 응답(Response), 키(Key - 출입증)</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도서관 사서(내 서버)가 다른 거대 도서관(외부 API)에 전화를 걸어 책 정보를 물어보는 일러스트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데이터는 어떻게 흐를까? (Part 1 핵심)</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1. **공공데이터포털** (Source)</a:t>
            </a:r>
          </a:p>
          <a:p>
            <a:pPr>
              <a:spcAft>
                <a:spcPts val="1400"/>
              </a:spcAft>
              <a:defRPr sz="1800">
                <a:solidFill>
                  <a:srgbClr val="F8F8F2"/>
                </a:solidFill>
                <a:latin typeface="Segoe UI"/>
              </a:defRPr>
            </a:pPr>
            <a:r>
              <a:t>2. **PublicApiService** (요청/수신)</a:t>
            </a:r>
          </a:p>
          <a:p>
            <a:pPr>
              <a:spcAft>
                <a:spcPts val="1400"/>
              </a:spcAft>
              <a:defRPr sz="1800">
                <a:solidFill>
                  <a:srgbClr val="F8F8F2"/>
                </a:solidFill>
                <a:latin typeface="Segoe UI"/>
              </a:defRPr>
            </a:pPr>
            <a:r>
              <a:t>3. **AnimalSyncService** (가공/저장)</a:t>
            </a:r>
          </a:p>
          <a:p>
            <a:pPr>
              <a:spcAft>
                <a:spcPts val="1400"/>
              </a:spcAft>
              <a:defRPr sz="1800">
                <a:solidFill>
                  <a:srgbClr val="F8F8F2"/>
                </a:solidFill>
                <a:latin typeface="Segoe UI"/>
              </a:defRPr>
            </a:pPr>
            <a:r>
              <a:t>4. **PostgreSQL DB** (저장소)</a:t>
            </a:r>
          </a:p>
          <a:p>
            <a:pPr>
              <a:spcAft>
                <a:spcPts val="1400"/>
              </a:spcAft>
              <a:defRPr sz="1800">
                <a:solidFill>
                  <a:srgbClr val="F8F8F2"/>
                </a:solidFill>
                <a:latin typeface="Segoe UI"/>
              </a:defRPr>
            </a:pPr>
            <a:r>
              <a:t>5. **사용자 브라우저** (최종 조회)</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흐름도(Flow Chart): `data.go.kr` → `Java Server` → `DB` → `React Client` 화살표 흐름</a:t>
            </a:r>
            <a:br/>
            <a:r>
              <a:t>- 각 단계 아이콘으로 시각화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 가져오기: PublicApiService</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**URL**: `https://apis.data.go.kr/...`</a:t>
            </a:r>
          </a:p>
          <a:p>
            <a:pPr>
              <a:spcAft>
                <a:spcPts val="1400"/>
              </a:spcAft>
              <a:defRPr sz="1800">
                <a:solidFill>
                  <a:srgbClr val="F8F8F2"/>
                </a:solidFill>
                <a:latin typeface="Segoe UI"/>
              </a:defRPr>
            </a:pPr>
            <a:r>
              <a:t>**Method**: HTTP GET</a:t>
            </a:r>
          </a:p>
          <a:p>
            <a:pPr>
              <a:spcAft>
                <a:spcPts val="1400"/>
              </a:spcAft>
              <a:defRPr sz="1800">
                <a:solidFill>
                  <a:srgbClr val="F8F8F2"/>
                </a:solidFill>
                <a:latin typeface="Segoe UI"/>
              </a:defRPr>
            </a:pPr>
            <a:r>
              <a:t>**Parameter**: `serviceKey`(인증), `numOfRows`(개수), `uprCd`(지역) 등</a:t>
            </a:r>
          </a:p>
          <a:p>
            <a:pPr>
              <a:spcAft>
                <a:spcPts val="1400"/>
              </a:spcAft>
              <a:defRPr sz="1800">
                <a:solidFill>
                  <a:srgbClr val="F8F8F2"/>
                </a:solidFill>
                <a:latin typeface="Segoe UI"/>
              </a:defRPr>
            </a:pPr>
            <a:r>
              <a:t>**Parsing**: JSON 형식의 응답을 Java 객체로 변환</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코드 스니펫: `UriComponentsBuilder`를 사용하여 URL을 만드는 부분과 `restTemplate.exchange()` 호출 부분 (핵심 3~4줄)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개발자를 울리는 API 응답의 함정</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**문제**: 데이터가 1개일 때는 `Object`, 2개 이상일 때는 `Array`로 옴</a:t>
            </a:r>
          </a:p>
          <a:p>
            <a:pPr>
              <a:spcAft>
                <a:spcPts val="1400"/>
              </a:spcAft>
              <a:defRPr sz="1800">
                <a:solidFill>
                  <a:srgbClr val="F8F8F2"/>
                </a:solidFill>
                <a:latin typeface="Segoe UI"/>
              </a:defRPr>
            </a:pPr>
            <a:r>
              <a:t>**해결**: `Jackson` 라이브러리의 유연함 또는 커스텀 Deserializer 필요</a:t>
            </a:r>
          </a:p>
          <a:p>
            <a:pPr>
              <a:spcAft>
                <a:spcPts val="1400"/>
              </a:spcAft>
              <a:defRPr sz="1800">
                <a:solidFill>
                  <a:srgbClr val="F8F8F2"/>
                </a:solidFill>
                <a:latin typeface="Segoe UI"/>
              </a:defRPr>
            </a:pPr>
            <a:r>
              <a:t>**구조**: `response` &gt; `body` &gt; `items` &gt; `item` (깊은 중첩 구조)</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JSON 예시 비교: 왼쪽은 `{ item: { ... } }` (객체), 오른쪽은 `{ item: [ ... ] }` (배열)</a:t>
            </a:r>
            <a:br/>
            <a:r>
              <a:t>- 곤란해하는 개발자 이모지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Java 객체로 변신: AnimalItem DTO</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**DTO (Data Transfer Object)**: 데이터 운반 전용 객체</a:t>
            </a:r>
          </a:p>
          <a:p>
            <a:pPr>
              <a:spcAft>
                <a:spcPts val="1400"/>
              </a:spcAft>
              <a:defRPr sz="1800">
                <a:solidFill>
                  <a:srgbClr val="F8F8F2"/>
                </a:solidFill>
                <a:latin typeface="Segoe UI"/>
              </a:defRPr>
            </a:pPr>
            <a:r>
              <a:t>**매핑**: JSON 필드(`desertionNo`) ↔ Java 필드(`desertionNo`)</a:t>
            </a:r>
          </a:p>
          <a:p>
            <a:pPr>
              <a:spcAft>
                <a:spcPts val="1400"/>
              </a:spcAft>
              <a:defRPr sz="1800">
                <a:solidFill>
                  <a:srgbClr val="F8F8F2"/>
                </a:solidFill>
                <a:latin typeface="Segoe UI"/>
              </a:defRPr>
            </a:pPr>
            <a:r>
              <a:t>**어노테이션**: `@JsonProperty`, `@JsonAlias` 등으로 이름 불일치 해결</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표(Table): JSON 필드명(desertionNo, happenDt)과 Java 필드명 매핑 보여주기</a:t>
            </a:r>
            <a:br/>
            <a:r>
              <a:t>- 코드 스니펫: `AnimalItem` 클래스의 필드 선언부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동기화의 마법: Upsert 패턴</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**Upsert** = Update + Insert</a:t>
            </a:r>
          </a:p>
          <a:p>
            <a:pPr>
              <a:spcAft>
                <a:spcPts val="1400"/>
              </a:spcAft>
              <a:defRPr sz="1800">
                <a:solidFill>
                  <a:srgbClr val="F8F8F2"/>
                </a:solidFill>
                <a:latin typeface="Segoe UI"/>
              </a:defRPr>
            </a:pPr>
            <a:r>
              <a:t>**로직**: 유기번호(`desertionNo`)로 DB 조회</a:t>
            </a:r>
          </a:p>
          <a:p>
            <a:pPr>
              <a:spcAft>
                <a:spcPts val="1400"/>
              </a:spcAft>
              <a:defRPr sz="1800">
                <a:solidFill>
                  <a:srgbClr val="F8F8F2"/>
                </a:solidFill>
                <a:latin typeface="Segoe UI"/>
              </a:defRPr>
            </a:pPr>
            <a:r>
              <a:t>**없으면?** → 신규 등록 (`INSERT`)</a:t>
            </a:r>
          </a:p>
          <a:p>
            <a:pPr>
              <a:spcAft>
                <a:spcPts val="1400"/>
              </a:spcAft>
              <a:defRPr sz="1800">
                <a:solidFill>
                  <a:srgbClr val="F8F8F2"/>
                </a:solidFill>
                <a:latin typeface="Segoe UI"/>
              </a:defRPr>
            </a:pPr>
            <a:r>
              <a:t>**있으면?** → 정보 갱신 (`UPDATE`)</a:t>
            </a:r>
          </a:p>
          <a:p>
            <a:pPr>
              <a:spcAft>
                <a:spcPts val="1400"/>
              </a:spcAft>
              <a:defRPr sz="1800">
                <a:solidFill>
                  <a:srgbClr val="F8F8F2"/>
                </a:solidFill>
                <a:latin typeface="Segoe UI"/>
              </a:defRPr>
            </a:pPr>
            <a:r>
              <a:t>**상태가 '종료'면?** → 삭제 (`DELETE`)</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순서도(Flowchart):</a:t>
            </a:r>
            <a:br/>
            <a:r>
              <a:t>`공공데이터 1건` → `유기번호 조회` → `(Yes/No)` 분기</a:t>
            </a:r>
            <a:br/>
            <a:r>
              <a:t>→ Yes: `dbAnimal.update()`</a:t>
            </a:r>
            <a:br/>
            <a:r>
              <a:t>→ No: `repository.save()`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데이터 가공: 원석을 보석으로</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**나이 파싱**: "2023(년생)" → `2023` (Integer)</a:t>
            </a:r>
          </a:p>
          <a:p>
            <a:pPr>
              <a:spcAft>
                <a:spcPts val="1400"/>
              </a:spcAft>
              <a:defRPr sz="1800">
                <a:solidFill>
                  <a:srgbClr val="F8F8F2"/>
                </a:solidFill>
                <a:latin typeface="Segoe UI"/>
              </a:defRPr>
            </a:pPr>
            <a:r>
              <a:t>**체중 파싱**: "5.5(Kg)" → `5.5` (BigDecimal) → **크기 추정** (소형/중형/대형)</a:t>
            </a:r>
          </a:p>
          <a:p>
            <a:pPr>
              <a:spcAft>
                <a:spcPts val="1400"/>
              </a:spcAft>
              <a:defRPr sz="1800">
                <a:solidFill>
                  <a:srgbClr val="F8F8F2"/>
                </a:solidFill>
                <a:latin typeface="Segoe UI"/>
              </a:defRPr>
            </a:pPr>
            <a:r>
              <a:t>**품종 분류**: "[개] 믹스견" → `DOG`, `믹스견`</a:t>
            </a:r>
          </a:p>
          <a:p>
            <a:pPr>
              <a:spcAft>
                <a:spcPts val="1400"/>
              </a:spcAft>
              <a:defRPr sz="1800">
                <a:solidFill>
                  <a:srgbClr val="F8F8F2"/>
                </a:solidFill>
                <a:latin typeface="Segoe UI"/>
              </a:defRPr>
            </a:pPr>
            <a:r>
              <a:t>**상태 매핑**: "보호중" → `PROTECTED`, "종료(입양)" → 삭제 대상</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Before &amp; After 비교:</a:t>
            </a:r>
            <a:br/>
            <a:r>
              <a:t>지저분한 원본 데이터("2019(년생)", "4.5Kg") → 깔끔한 정제 데이터(`2019`, `4.5`, `SMALL`)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우리의 창고: Animal Entity</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**Entity**: DB 테이블과 1:1로 연결되는 자바 클래스</a:t>
            </a:r>
          </a:p>
          <a:p>
            <a:pPr>
              <a:spcAft>
                <a:spcPts val="1400"/>
              </a:spcAft>
              <a:defRPr sz="1800">
                <a:solidFill>
                  <a:srgbClr val="F8F8F2"/>
                </a:solidFill>
                <a:latin typeface="Segoe UI"/>
              </a:defRPr>
            </a:pPr>
            <a:r>
              <a:t>**주요 필드**: `species`(개/고양이), `status`(상태), `shelter`(보호소)</a:t>
            </a:r>
          </a:p>
          <a:p>
            <a:pPr>
              <a:spcAft>
                <a:spcPts val="1400"/>
              </a:spcAft>
              <a:defRPr sz="1800">
                <a:solidFill>
                  <a:srgbClr val="F8F8F2"/>
                </a:solidFill>
                <a:latin typeface="Segoe UI"/>
              </a:defRPr>
            </a:pPr>
            <a:r>
              <a:t>**Shelter 관계**: `ManyToOne` (하나의 보호소 - 여러 마리 동물)</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ER 다이어그램 (간략): `Animal` 테이블과 `Shelter` 테이블이 선으로 연결된 그림 (N:1 관계 표시)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잠든 사이에도 일하는 서버: 스케줄러</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**Scheduler**: 정해진 시간에 코드 자동 실행</a:t>
            </a:r>
          </a:p>
          <a:p>
            <a:pPr>
              <a:spcAft>
                <a:spcPts val="1400"/>
              </a:spcAft>
              <a:defRPr sz="1800">
                <a:solidFill>
                  <a:srgbClr val="F8F8F2"/>
                </a:solidFill>
                <a:latin typeface="Segoe UI"/>
              </a:defRPr>
            </a:pPr>
            <a:r>
              <a:t>**설정**: `@Scheduled(cron = "0 0 2 * * *")` → 매일 새벽 2시</a:t>
            </a:r>
          </a:p>
          <a:p>
            <a:pPr>
              <a:spcAft>
                <a:spcPts val="1400"/>
              </a:spcAft>
              <a:defRPr sz="1800">
                <a:solidFill>
                  <a:srgbClr val="F8F8F2"/>
                </a:solidFill>
                <a:latin typeface="Segoe UI"/>
              </a:defRPr>
            </a:pPr>
            <a:r>
              <a:t>**역할**: 매일 밤, 새로운 유기동물 정보를 업데이트해둠</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시계 아이콘이 새벽 2시를 가리키고, 서버가 혼자 열심히 일하는 귀여운 일러스트</a:t>
            </a:r>
            <a:br/>
            <a:r>
              <a:t>- 코드 하이라이트: `@Scheduled` 어노테이션 부분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사용자에게 보여주기: 조회 API</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**Endpoint**: `GET /api/animals`</a:t>
            </a:r>
          </a:p>
          <a:p>
            <a:pPr>
              <a:spcAft>
                <a:spcPts val="1400"/>
              </a:spcAft>
              <a:defRPr sz="1800">
                <a:solidFill>
                  <a:srgbClr val="F8F8F2"/>
                </a:solidFill>
                <a:latin typeface="Segoe UI"/>
              </a:defRPr>
            </a:pPr>
            <a:r>
              <a:t>**기능**: 검색, 필터링 (지역, 품종, 크기), 정렬, 페이징</a:t>
            </a:r>
          </a:p>
          <a:p>
            <a:pPr>
              <a:spcAft>
                <a:spcPts val="1400"/>
              </a:spcAft>
              <a:defRPr sz="1800">
                <a:solidFill>
                  <a:srgbClr val="F8F8F2"/>
                </a:solidFill>
                <a:latin typeface="Segoe UI"/>
              </a:defRPr>
            </a:pPr>
            <a:r>
              <a:t>**QueryDSL**: 복잡한 검색 조건을 동적으로 생성</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웹 브라우저 주소창 예시: `/api/animals?page=1&amp;size=10&amp;species=DOG`</a:t>
            </a:r>
            <a:br/>
            <a:r>
              <a:t>- JSON 응답 예시 (간략)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나에게 딱 맞는 친구 찾기: 추천 시스템</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**개인화**: 사용자가 설정한 선호도(품종, 크기 등) 반영</a:t>
            </a:r>
          </a:p>
          <a:p>
            <a:pPr>
              <a:spcAft>
                <a:spcPts val="1400"/>
              </a:spcAft>
              <a:defRPr sz="1800">
                <a:solidFill>
                  <a:srgbClr val="F8F8F2"/>
                </a:solidFill>
                <a:latin typeface="Segoe UI"/>
              </a:defRPr>
            </a:pPr>
            <a:r>
              <a:t>**알고리즘**: 선호 조건과 일치하는 동물 우선 노출</a:t>
            </a:r>
          </a:p>
          <a:p>
            <a:pPr>
              <a:spcAft>
                <a:spcPts val="1400"/>
              </a:spcAft>
              <a:defRPr sz="1800">
                <a:solidFill>
                  <a:srgbClr val="F8F8F2"/>
                </a:solidFill>
                <a:latin typeface="Segoe UI"/>
              </a:defRPr>
            </a:pPr>
            <a:r>
              <a:t>**Endpoint**: `GET /api/animals/recommendations`</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사용자 프로필(소형견 선호) ↔ 추천 결과(치와와, 말티즈 등) 매칭 그림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React로 만드는 목록 화면</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**컴포넌트**: `AnimalsPage.tsx`</a:t>
            </a:r>
          </a:p>
          <a:p>
            <a:pPr>
              <a:spcAft>
                <a:spcPts val="1400"/>
              </a:spcAft>
              <a:defRPr sz="1800">
                <a:solidFill>
                  <a:srgbClr val="F8F8F2"/>
                </a:solidFill>
                <a:latin typeface="Segoe UI"/>
              </a:defRPr>
            </a:pPr>
            <a:r>
              <a:t>**기능**: 필터 사이드바 + 동물 카드 그리드</a:t>
            </a:r>
          </a:p>
          <a:p>
            <a:pPr>
              <a:spcAft>
                <a:spcPts val="1400"/>
              </a:spcAft>
              <a:defRPr sz="1800">
                <a:solidFill>
                  <a:srgbClr val="F8F8F2"/>
                </a:solidFill>
                <a:latin typeface="Segoe UI"/>
              </a:defRPr>
            </a:pPr>
            <a:r>
              <a:t>**UX**: 무한 스크롤 대신 '더보기' 또는 페이지네이션</a:t>
            </a:r>
          </a:p>
          <a:p>
            <a:pPr>
              <a:spcAft>
                <a:spcPts val="1400"/>
              </a:spcAft>
              <a:defRPr sz="1800">
                <a:solidFill>
                  <a:srgbClr val="F8F8F2"/>
                </a:solidFill>
                <a:latin typeface="Segoe UI"/>
              </a:defRPr>
            </a:pPr>
            <a:r>
              <a:t>**상호작용**: 하트(찜) 누르면 관심 목록 저장</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동물 목록 페이지 화면 캡처 (필터링된 상태)</a:t>
            </a:r>
            <a:br/>
            <a:r>
              <a:t>- 카드 컴포넌트 확대: 사진, 이름, 특징이 잘 보이게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Part 1의 끝, Part 2의 시작: 상세 페이지</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**정보**: 상세 특징, 구조 장소, 담당자 연락처</a:t>
            </a:r>
          </a:p>
          <a:p>
            <a:pPr>
              <a:spcAft>
                <a:spcPts val="1400"/>
              </a:spcAft>
              <a:defRPr sz="1800">
                <a:solidFill>
                  <a:srgbClr val="F8F8F2"/>
                </a:solidFill>
                <a:latin typeface="Segoe UI"/>
              </a:defRPr>
            </a:pPr>
            <a:r>
              <a:t>**도구**: 카카오맵(보호소 위치), 유기번호 복사 기능</a:t>
            </a:r>
          </a:p>
          <a:p>
            <a:pPr>
              <a:spcAft>
                <a:spcPts val="1400"/>
              </a:spcAft>
              <a:defRPr sz="1800">
                <a:solidFill>
                  <a:srgbClr val="F8F8F2"/>
                </a:solidFill>
                <a:latin typeface="Segoe UI"/>
              </a:defRPr>
            </a:pPr>
            <a:r>
              <a:t>**CTA (Call To Action)**: **"입양 신청하기"** 버튼</a:t>
            </a:r>
          </a:p>
          <a:p>
            <a:pPr>
              <a:spcAft>
                <a:spcPts val="1400"/>
              </a:spcAft>
              <a:defRPr sz="1800">
                <a:solidFill>
                  <a:srgbClr val="F8F8F2"/>
                </a:solidFill>
                <a:latin typeface="Segoe UI"/>
              </a:defRPr>
            </a:pPr>
            <a:r>
              <a:t>**연결고리**: 여기서 클릭하면 입양 프로세스(Part 2)로 진입!</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상세 페이지 스크린샷: 하단에 큼지막한 "입양 신청" / "임보 신청" 버튼 강조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Part 2: 입양 및 임시보호 시스템</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입양과 임시보호의 차이</a:t>
            </a:r>
          </a:p>
          <a:p>
            <a:pPr>
              <a:spcAft>
                <a:spcPts val="1400"/>
              </a:spcAft>
              <a:defRPr sz="1800">
                <a:solidFill>
                  <a:srgbClr val="F8F8F2"/>
                </a:solidFill>
                <a:latin typeface="Segoe UI"/>
              </a:defRPr>
            </a:pPr>
            <a:r>
              <a:t>신청부터 승인까지의 워크플로우</a:t>
            </a:r>
          </a:p>
          <a:p>
            <a:pPr>
              <a:spcAft>
                <a:spcPts val="1400"/>
              </a:spcAft>
              <a:defRPr sz="1800">
                <a:solidFill>
                  <a:srgbClr val="F8F8F2"/>
                </a:solidFill>
                <a:latin typeface="Segoe UI"/>
              </a:defRPr>
            </a:pPr>
            <a:r>
              <a:t>관리자 기능</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Part 2 타이틀 슬라이드 (색상 톤 변화를 주어 분위기 전환)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두 가지의 길: 입양과 임시보호</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**입양 (Adoption)**: 평생 가족이 되는 것</a:t>
            </a:r>
          </a:p>
          <a:p>
            <a:pPr>
              <a:spcAft>
                <a:spcPts val="1400"/>
              </a:spcAft>
              <a:defRPr sz="1800">
                <a:solidFill>
                  <a:srgbClr val="F8F8F2"/>
                </a:solidFill>
                <a:latin typeface="Segoe UI"/>
              </a:defRPr>
            </a:pPr>
            <a:r>
              <a:t>**임시보호 (Fostering)**: 입양 갈 때까지 잠시 돌봐주는 것</a:t>
            </a:r>
          </a:p>
          <a:p>
            <a:pPr>
              <a:spcAft>
                <a:spcPts val="1400"/>
              </a:spcAft>
              <a:defRPr sz="1800">
                <a:solidFill>
                  <a:srgbClr val="F8F8F2"/>
                </a:solidFill>
                <a:latin typeface="Segoe UI"/>
              </a:defRPr>
            </a:pPr>
            <a:r>
              <a:t>**공통점**: 신청서 작성 → 심사 → 승인 절차 동일</a:t>
            </a:r>
          </a:p>
          <a:p>
            <a:pPr>
              <a:spcAft>
                <a:spcPts val="1400"/>
              </a:spcAft>
              <a:defRPr sz="1800">
                <a:solidFill>
                  <a:srgbClr val="F8F8F2"/>
                </a:solidFill>
                <a:latin typeface="Segoe UI"/>
              </a:defRPr>
            </a:pPr>
            <a:r>
              <a:t>**설계**: 하나의 테이블, 하나의 로직으로 통합 관리</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저울 그림: 왼쪽엔 '입양', 오른쪽엔 '임시보호'가 있지만 저울은 평형 (프로세스가 같음)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신청서 양식: Adoption Entity</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**Adoption Type**: `ADOPTION` / `FOSTERING` (Enum)</a:t>
            </a:r>
          </a:p>
          <a:p>
            <a:pPr>
              <a:spcAft>
                <a:spcPts val="1400"/>
              </a:spcAft>
              <a:defRPr sz="1800">
                <a:solidFill>
                  <a:srgbClr val="F8F8F2"/>
                </a:solidFill>
                <a:latin typeface="Segoe UI"/>
              </a:defRPr>
            </a:pPr>
            <a:r>
              <a:t>**Status**: `PENDING`(대기) → `APPROVED`(승인) 등</a:t>
            </a:r>
          </a:p>
          <a:p>
            <a:pPr>
              <a:spcAft>
                <a:spcPts val="1400"/>
              </a:spcAft>
              <a:defRPr sz="1800">
                <a:solidFill>
                  <a:srgbClr val="F8F8F2"/>
                </a:solidFill>
                <a:latin typeface="Segoe UI"/>
              </a:defRPr>
            </a:pPr>
            <a:r>
              <a:t>**관계**: User(신청자) + Animal(대상 동물)</a:t>
            </a:r>
          </a:p>
          <a:p>
            <a:pPr>
              <a:spcAft>
                <a:spcPts val="1400"/>
              </a:spcAft>
              <a:defRPr sz="1800">
                <a:solidFill>
                  <a:srgbClr val="F8F8F2"/>
                </a:solidFill>
                <a:latin typeface="Segoe UI"/>
              </a:defRPr>
            </a:pPr>
            <a:r>
              <a:t>**필드**: 신청 사유, 주거 환경, 가족 동의 여부</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Adoption 테이블 구조도: `user_id`, `animal_id` FK 표시</a:t>
            </a:r>
            <a:br/>
            <a:r>
              <a:t>- `AdoptionType` Enum 코드 박스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상태의 흐름: 상태 머신</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**Enum AdoptionStatus**:</a:t>
            </a:r>
          </a:p>
          <a:p>
            <a:pPr>
              <a:spcAft>
                <a:spcPts val="1400"/>
              </a:spcAft>
              <a:defRPr sz="1800">
                <a:solidFill>
                  <a:srgbClr val="F8F8F2"/>
                </a:solidFill>
                <a:latin typeface="Segoe UI"/>
              </a:defRPr>
            </a:pPr>
            <a:r>
              <a:t>`PENDING` (접수 대기)</a:t>
            </a:r>
          </a:p>
          <a:p>
            <a:pPr>
              <a:spcAft>
                <a:spcPts val="1400"/>
              </a:spcAft>
              <a:defRPr sz="1800">
                <a:solidFill>
                  <a:srgbClr val="F8F8F2"/>
                </a:solidFill>
                <a:latin typeface="Segoe UI"/>
              </a:defRPr>
            </a:pPr>
            <a:r>
              <a:t>`APPROVED` (승인 완료)</a:t>
            </a:r>
          </a:p>
          <a:p>
            <a:pPr>
              <a:spcAft>
                <a:spcPts val="1400"/>
              </a:spcAft>
              <a:defRPr sz="1800">
                <a:solidFill>
                  <a:srgbClr val="F8F8F2"/>
                </a:solidFill>
                <a:latin typeface="Segoe UI"/>
              </a:defRPr>
            </a:pPr>
            <a:r>
              <a:t>`REJECTED` (거절됨)</a:t>
            </a:r>
          </a:p>
          <a:p>
            <a:pPr>
              <a:spcAft>
                <a:spcPts val="1400"/>
              </a:spcAft>
              <a:defRPr sz="1800">
                <a:solidFill>
                  <a:srgbClr val="F8F8F2"/>
                </a:solidFill>
                <a:latin typeface="Segoe UI"/>
              </a:defRPr>
            </a:pPr>
            <a:r>
              <a:t>`CANCELLED` (사용자 취소)</a:t>
            </a:r>
          </a:p>
          <a:p>
            <a:pPr>
              <a:spcAft>
                <a:spcPts val="1400"/>
              </a:spcAft>
              <a:defRPr sz="1800">
                <a:solidFill>
                  <a:srgbClr val="F8F8F2"/>
                </a:solidFill>
                <a:latin typeface="Segoe UI"/>
              </a:defRPr>
            </a:pPr>
            <a:r>
              <a:t>**Rule**: `PENDING` 상태에서만 다른 상태로 변경 가능</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상태 전이 다이어그램 (State Transition Diagram):</a:t>
            </a:r>
            <a:br/>
            <a:r>
              <a:t>`PENDING`에서 출발하여 3갈래(`APPROVED`, `REJECTED`, `CANCELLED`)로 뻗어나가는 화살표</a:t>
            </a:r>
            <a:br/>
            <a:r>
              <a:t>- 승인된 상태에서 취소로 가는 화살표에 X 표시 (불가)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사용자는 어떻게 신청할까?</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1. 동물 상세 페이지에서 신청 버튼 클릭</a:t>
            </a:r>
          </a:p>
          <a:p>
            <a:pPr>
              <a:spcAft>
                <a:spcPts val="1400"/>
              </a:spcAft>
              <a:defRPr sz="1800">
                <a:solidFill>
                  <a:srgbClr val="F8F8F2"/>
                </a:solidFill>
                <a:latin typeface="Segoe UI"/>
              </a:defRPr>
            </a:pPr>
            <a:r>
              <a:t>2. 신청 양식 작성 (주거환경, 경험 등)</a:t>
            </a:r>
          </a:p>
          <a:p>
            <a:pPr>
              <a:spcAft>
                <a:spcPts val="1400"/>
              </a:spcAft>
              <a:defRPr sz="1800">
                <a:solidFill>
                  <a:srgbClr val="F8F8F2"/>
                </a:solidFill>
                <a:latin typeface="Segoe UI"/>
              </a:defRPr>
            </a:pPr>
            <a:r>
              <a:t>3. "신청하기" 클릭 → 서버로 전송</a:t>
            </a:r>
          </a:p>
          <a:p>
            <a:pPr>
              <a:spcAft>
                <a:spcPts val="1400"/>
              </a:spcAft>
              <a:defRPr sz="1800">
                <a:solidFill>
                  <a:srgbClr val="F8F8F2"/>
                </a:solidFill>
                <a:latin typeface="Segoe UI"/>
              </a:defRPr>
            </a:pPr>
            <a:r>
              <a:t>4. "접수되었습니다" 메시지 및 이메일 수신</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UI 흐름도: 화면 1(작성) → 화면 2(제출) → 화면 3(완료 모달)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코드 속으로: apply() 메서드</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1. **검증**: 유효한 사용자인가? 동물이 존재하는가?</a:t>
            </a:r>
          </a:p>
          <a:p>
            <a:pPr>
              <a:spcAft>
                <a:spcPts val="1400"/>
              </a:spcAft>
              <a:defRPr sz="1800">
                <a:solidFill>
                  <a:srgbClr val="F8F8F2"/>
                </a:solidFill>
                <a:latin typeface="Segoe UI"/>
              </a:defRPr>
            </a:pPr>
            <a:r>
              <a:t>2. **생성**: `Adoption` 객체 생성 (`PENDING` 상태)</a:t>
            </a:r>
          </a:p>
          <a:p>
            <a:pPr>
              <a:spcAft>
                <a:spcPts val="1400"/>
              </a:spcAft>
              <a:defRPr sz="1800">
                <a:solidFill>
                  <a:srgbClr val="F8F8F2"/>
                </a:solidFill>
                <a:latin typeface="Segoe UI"/>
              </a:defRPr>
            </a:pPr>
            <a:r>
              <a:t>3. **저장**: `repository.save()`</a:t>
            </a:r>
          </a:p>
          <a:p>
            <a:pPr>
              <a:spcAft>
                <a:spcPts val="1400"/>
              </a:spcAft>
              <a:defRPr sz="1800">
                <a:solidFill>
                  <a:srgbClr val="F8F8F2"/>
                </a:solidFill>
                <a:latin typeface="Segoe UI"/>
              </a:defRPr>
            </a:pPr>
            <a:r>
              <a:t>4. **알림**: 신청자에게 이메일, 관리자에게 알림 전송</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`apply` 메서드 자바 코드 (핵심 로직 5줄 내외): validate → build → save → notify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심판의 시간: 관리자 승인/거절</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**승인**: `PUT /api/adoptions/{id}/approve`</a:t>
            </a:r>
          </a:p>
          <a:p>
            <a:pPr>
              <a:spcAft>
                <a:spcPts val="1400"/>
              </a:spcAft>
              <a:defRPr sz="1800">
                <a:solidFill>
                  <a:srgbClr val="F8F8F2"/>
                </a:solidFill>
                <a:latin typeface="Segoe UI"/>
              </a:defRPr>
            </a:pPr>
            <a:r>
              <a:t>PENDING 확인 → Status 변경(APPROVED) → 승인 메일 발송</a:t>
            </a:r>
          </a:p>
          <a:p>
            <a:pPr>
              <a:spcAft>
                <a:spcPts val="1400"/>
              </a:spcAft>
              <a:defRPr sz="1800">
                <a:solidFill>
                  <a:srgbClr val="F8F8F2"/>
                </a:solidFill>
                <a:latin typeface="Segoe UI"/>
              </a:defRPr>
            </a:pPr>
            <a:r>
              <a:t>**거절**: `PUT /api/adoptions/{id}/reject`</a:t>
            </a:r>
          </a:p>
          <a:p>
            <a:pPr>
              <a:spcAft>
                <a:spcPts val="1400"/>
              </a:spcAft>
              <a:defRPr sz="1800">
                <a:solidFill>
                  <a:srgbClr val="F8F8F2"/>
                </a:solidFill>
                <a:latin typeface="Segoe UI"/>
              </a:defRPr>
            </a:pPr>
            <a:r>
              <a:t>PENDING 확인 → Status 변경(REJECTED) + 거절 사유 기록 → 거절 메일 발송</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관리자 대시보드 화면 목업: 신청 목록 옆에 O(승인) / X(거절) 버튼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소식 전달하기: 이메일 &amp; 알림</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**이메일**: `Resend` API 사용 (외부 서비스)</a:t>
            </a:r>
          </a:p>
          <a:p>
            <a:pPr>
              <a:spcAft>
                <a:spcPts val="1400"/>
              </a:spcAft>
              <a:defRPr sz="1800">
                <a:solidFill>
                  <a:srgbClr val="F8F8F2"/>
                </a:solidFill>
                <a:latin typeface="Segoe UI"/>
              </a:defRPr>
            </a:pPr>
            <a:r>
              <a:t>HTML 템플릿으로 예쁜 메일 발송</a:t>
            </a:r>
          </a:p>
          <a:p>
            <a:pPr>
              <a:spcAft>
                <a:spcPts val="1400"/>
              </a:spcAft>
              <a:defRPr sz="1800">
                <a:solidFill>
                  <a:srgbClr val="F8F8F2"/>
                </a:solidFill>
                <a:latin typeface="Segoe UI"/>
              </a:defRPr>
            </a:pPr>
            <a:r>
              <a:t>**인앱 알림**: `NotificationService`</a:t>
            </a:r>
          </a:p>
          <a:p>
            <a:pPr>
              <a:spcAft>
                <a:spcPts val="1400"/>
              </a:spcAft>
              <a:defRPr sz="1800">
                <a:solidFill>
                  <a:srgbClr val="F8F8F2"/>
                </a:solidFill>
                <a:latin typeface="Segoe UI"/>
              </a:defRPr>
            </a:pPr>
            <a:r>
              <a:t>웹사이트 상단 종 모양 아이콘에 빨간 점 표시</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이메일 도착 화면(Gmail 등)과 웹사이트 알림 배지(빨간 점) 캡처</a:t>
            </a:r>
            <a:br/>
            <a:r>
              <a:t>- Resend 로고</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프론트엔드와 백엔드의 약속</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**adoption.ts**: 입양 관련 API만 모아둔 파일</a:t>
            </a:r>
          </a:p>
          <a:p>
            <a:pPr>
              <a:spcAft>
                <a:spcPts val="1400"/>
              </a:spcAft>
              <a:defRPr sz="1800">
                <a:solidFill>
                  <a:srgbClr val="F8F8F2"/>
                </a:solidFill>
                <a:latin typeface="Segoe UI"/>
              </a:defRPr>
            </a:pPr>
            <a:r>
              <a:t>**Type-Safety**: TypeScript Interface로 요청/응답 타입 정의</a:t>
            </a:r>
          </a:p>
          <a:p>
            <a:pPr>
              <a:spcAft>
                <a:spcPts val="1400"/>
              </a:spcAft>
              <a:defRPr sz="1800">
                <a:solidFill>
                  <a:srgbClr val="F8F8F2"/>
                </a:solidFill>
                <a:latin typeface="Segoe UI"/>
              </a:defRPr>
            </a:pPr>
            <a:r>
              <a:t>`AdoptionRequest`, `AdoptionResponse`</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TypeScript 코드: `interface AdoptionRequest { animalId: number; reason: string; ...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친절한 안내서: 가이드 페이지</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**UX**: 신청 전 절차를 명확히 안내하여 심리적 장벽 낮춤</a:t>
            </a:r>
          </a:p>
          <a:p>
            <a:pPr>
              <a:spcAft>
                <a:spcPts val="1400"/>
              </a:spcAft>
              <a:defRPr sz="1800">
                <a:solidFill>
                  <a:srgbClr val="F8F8F2"/>
                </a:solidFill>
                <a:latin typeface="Segoe UI"/>
              </a:defRPr>
            </a:pPr>
            <a:r>
              <a:t>**입양 가이드**: 6단계 (녹색 테마)</a:t>
            </a:r>
          </a:p>
          <a:p>
            <a:pPr>
              <a:spcAft>
                <a:spcPts val="1400"/>
              </a:spcAft>
              <a:defRPr sz="1800">
                <a:solidFill>
                  <a:srgbClr val="F8F8F2"/>
                </a:solidFill>
                <a:latin typeface="Segoe UI"/>
              </a:defRPr>
            </a:pPr>
            <a:r>
              <a:t>**임보 가이드**: 4단계 (파란색 테마)</a:t>
            </a:r>
          </a:p>
          <a:p>
            <a:pPr>
              <a:spcAft>
                <a:spcPts val="1400"/>
              </a:spcAft>
              <a:defRPr sz="1800">
                <a:solidFill>
                  <a:srgbClr val="F8F8F2"/>
                </a:solidFill>
                <a:latin typeface="Segoe UI"/>
              </a:defRPr>
            </a:pPr>
            <a:r>
              <a:t>**재사용성**: 비슷한 구조지만 색상과 내용만 다르게 구현</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입양 가이드(초록)와 임보 가이드(파랑) 화면 나란히 비교</a:t>
            </a:r>
            <a:br/>
            <a:r>
              <a:t>- 단계별 아이콘 프로세스 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작은 컴포넌트의 큰 역할: GuideCallBlock</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**기능**: 보호소 정보 + 유기번호 표시 + 복사 기능</a:t>
            </a:r>
          </a:p>
          <a:p>
            <a:pPr>
              <a:spcAft>
                <a:spcPts val="1400"/>
              </a:spcAft>
              <a:defRPr sz="1800">
                <a:solidFill>
                  <a:srgbClr val="F8F8F2"/>
                </a:solidFill>
                <a:latin typeface="Segoe UI"/>
              </a:defRPr>
            </a:pPr>
            <a:r>
              <a:t>**재사용**: 입양/임보 가이드 양쪽에서 똑같이 사용</a:t>
            </a:r>
          </a:p>
          <a:p>
            <a:pPr>
              <a:spcAft>
                <a:spcPts val="1400"/>
              </a:spcAft>
              <a:defRPr sz="1800">
                <a:solidFill>
                  <a:srgbClr val="F8F8F2"/>
                </a:solidFill>
                <a:latin typeface="Segoe UI"/>
              </a:defRPr>
            </a:pPr>
            <a:r>
              <a:t>**UX 디테일**: 클릭 한번으로 유기번호 복사 (전화 문의 시 필수)</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전화번호 박스 컴포넌트 확대</a:t>
            </a:r>
            <a:br/>
            <a:r>
              <a:t>- "복사되었습니다!" 토스트 메시지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한눈에 보는 전체 흐름 (Summary)</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1. `User`: 상세 페이지 진입</a:t>
            </a:r>
          </a:p>
          <a:p>
            <a:pPr>
              <a:spcAft>
                <a:spcPts val="1400"/>
              </a:spcAft>
              <a:defRPr sz="1800">
                <a:solidFill>
                  <a:srgbClr val="F8F8F2"/>
                </a:solidFill>
                <a:latin typeface="Segoe UI"/>
              </a:defRPr>
            </a:pPr>
            <a:r>
              <a:t>2. `Frontend`: 입양 가이드 확인 → 신청 폼 작성 및 제출</a:t>
            </a:r>
          </a:p>
          <a:p>
            <a:pPr>
              <a:spcAft>
                <a:spcPts val="1400"/>
              </a:spcAft>
              <a:defRPr sz="1800">
                <a:solidFill>
                  <a:srgbClr val="F8F8F2"/>
                </a:solidFill>
                <a:latin typeface="Segoe UI"/>
              </a:defRPr>
            </a:pPr>
            <a:r>
              <a:t>3. `Backend`: 신청서 저장(PENDING) → 이메일 발송</a:t>
            </a:r>
          </a:p>
          <a:p>
            <a:pPr>
              <a:spcAft>
                <a:spcPts val="1400"/>
              </a:spcAft>
              <a:defRPr sz="1800">
                <a:solidFill>
                  <a:srgbClr val="F8F8F2"/>
                </a:solidFill>
                <a:latin typeface="Segoe UI"/>
              </a:defRPr>
            </a:pPr>
            <a:r>
              <a:t>4. `Admin`: 신청서 확인 → 승인(APPROVED)</a:t>
            </a:r>
          </a:p>
          <a:p>
            <a:pPr>
              <a:spcAft>
                <a:spcPts val="1400"/>
              </a:spcAft>
              <a:defRPr sz="1800">
                <a:solidFill>
                  <a:srgbClr val="F8F8F2"/>
                </a:solidFill>
                <a:latin typeface="Segoe UI"/>
              </a:defRPr>
            </a:pPr>
            <a:r>
              <a:t>5. `Backend`: 승인 처리 → DB 갱신 → 결과 통보</a:t>
            </a:r>
          </a:p>
          <a:p>
            <a:pPr>
              <a:spcAft>
                <a:spcPts val="1400"/>
              </a:spcAft>
              <a:defRPr sz="1800">
                <a:solidFill>
                  <a:srgbClr val="F8F8F2"/>
                </a:solidFill>
                <a:latin typeface="Segoe UI"/>
              </a:defRPr>
            </a:pPr>
            <a:r>
              <a:t>6. `User`: 입양 확정 및 동물 인수</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전체 과정을 아우르는 시퀀스 다이어그램 (Swimlane: User | Frontend | Backend | Database | Admin)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완벽을 위한 마무리: 검증과 에러 처리</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**Validation**: `@Valid`로 필수 입력값 체크 (빈칸 방지)</a:t>
            </a:r>
          </a:p>
          <a:p>
            <a:pPr>
              <a:spcAft>
                <a:spcPts val="1400"/>
              </a:spcAft>
              <a:defRPr sz="1800">
                <a:solidFill>
                  <a:srgbClr val="F8F8F2"/>
                </a:solidFill>
                <a:latin typeface="Segoe UI"/>
              </a:defRPr>
            </a:pPr>
            <a:r>
              <a:t>**Exception**: "이미 신청한 동물입니다", "존재하지 않는 동물입니다"</a:t>
            </a:r>
          </a:p>
          <a:p>
            <a:pPr>
              <a:spcAft>
                <a:spcPts val="1400"/>
              </a:spcAft>
              <a:defRPr sz="1800">
                <a:solidFill>
                  <a:srgbClr val="F8F8F2"/>
                </a:solidFill>
                <a:latin typeface="Segoe UI"/>
              </a:defRPr>
            </a:pPr>
            <a:r>
              <a:t>**API Key Check**: 서버 시작 시 키 설정 여부 확인</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에러 메시지 팝업 예시 ("사유를 입력해주세요!")</a:t>
            </a:r>
            <a:br/>
            <a:r>
              <a:t>- 자바 코드: `@NotNull`, `orElseThrow()`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오늘 배운 실무 포인트</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1. **외부 의존성 격리**: API 응답 변경에 대비한 DTO/Wrapper 분리</a:t>
            </a:r>
          </a:p>
          <a:p>
            <a:pPr>
              <a:spcAft>
                <a:spcPts val="1400"/>
              </a:spcAft>
              <a:defRPr sz="1800">
                <a:solidFill>
                  <a:srgbClr val="F8F8F2"/>
                </a:solidFill>
                <a:latin typeface="Segoe UI"/>
              </a:defRPr>
            </a:pPr>
            <a:r>
              <a:t>2. **동기화 전략**: Upsert로 데이터 정합성 유지</a:t>
            </a:r>
          </a:p>
          <a:p>
            <a:pPr>
              <a:spcAft>
                <a:spcPts val="1400"/>
              </a:spcAft>
              <a:defRPr sz="1800">
                <a:solidFill>
                  <a:srgbClr val="F8F8F2"/>
                </a:solidFill>
                <a:latin typeface="Segoe UI"/>
              </a:defRPr>
            </a:pPr>
            <a:r>
              <a:t>3. **통합 모델링**: 유사 기능(입양/임보)은 하나의 엔티티 + Enum으로 관리</a:t>
            </a:r>
          </a:p>
          <a:p>
            <a:pPr>
              <a:spcAft>
                <a:spcPts val="1400"/>
              </a:spcAft>
              <a:defRPr sz="1800">
                <a:solidFill>
                  <a:srgbClr val="F8F8F2"/>
                </a:solidFill>
                <a:latin typeface="Segoe UI"/>
              </a:defRPr>
            </a:pPr>
            <a:r>
              <a:t>4. **상태 관리**: 명확한 상태 전이 규칙(State Machine) 적용</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- 4가지 포인트를 아이콘과 함께 카드 형태로 요약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lgn="l">
              <a:defRPr sz="3200">
                <a:solidFill>
                  <a:srgbClr val="00F0FF"/>
                </a:solidFill>
                <a:latin typeface="Segoe UI Bold"/>
              </a:defRPr>
            </a:pPr>
            <a:r>
              <a:t>Q&amp;A</a:t>
            </a:r>
          </a:p>
        </p:txBody>
      </p:sp>
      <p:sp>
        <p:nvSpPr>
          <p:cNvPr id="3" name="Rounded Rectangle 2"/>
          <p:cNvSpPr/>
          <p:nvPr/>
        </p:nvSpPr>
        <p:spPr>
          <a:xfrm>
            <a:off x="457200" y="1371600"/>
            <a:ext cx="5029200" cy="4572000"/>
          </a:xfrm>
          <a:prstGeom prst="roundRect">
            <a:avLst>
              <a:gd name="adj" fmla="val 50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4663440" cy="4206240"/>
          </a:xfrm>
          <a:prstGeom prst="rect">
            <a:avLst/>
          </a:prstGeom>
          <a:noFill/>
        </p:spPr>
        <p:txBody>
          <a:bodyPr wrap="square">
            <a:spAutoFit/>
          </a:bodyPr>
          <a:lstStyle/>
          <a:p/>
          <a:p>
            <a:pPr>
              <a:spcAft>
                <a:spcPts val="1400"/>
              </a:spcAft>
              <a:defRPr sz="1800">
                <a:solidFill>
                  <a:srgbClr val="F8F8F2"/>
                </a:solidFill>
                <a:latin typeface="Segoe UI"/>
              </a:defRPr>
            </a:pPr>
            <a:r>
              <a:t>파트별 질문 접수</a:t>
            </a:r>
          </a:p>
          <a:p>
            <a:pPr>
              <a:spcAft>
                <a:spcPts val="1400"/>
              </a:spcAft>
              <a:defRPr sz="1800">
                <a:solidFill>
                  <a:srgbClr val="F8F8F2"/>
                </a:solidFill>
                <a:latin typeface="Segoe UI"/>
              </a:defRPr>
            </a:pPr>
            <a:r>
              <a:t>추가 설명이 필요한 부분 보충</a:t>
            </a:r>
          </a:p>
        </p:txBody>
      </p:sp>
      <p:sp>
        <p:nvSpPr>
          <p:cNvPr id="5" name="Rectangle 4"/>
          <p:cNvSpPr/>
          <p:nvPr/>
        </p:nvSpPr>
        <p:spPr>
          <a:xfrm>
            <a:off x="5669280" y="1371600"/>
            <a:ext cx="3200400" cy="4572000"/>
          </a:xfrm>
          <a:prstGeom prst="rect">
            <a:avLst/>
          </a:prstGeom>
          <a:noFill/>
          <a:ln w="19050">
            <a:solidFill>
              <a:srgbClr val="BD93F9"/>
            </a:solidFill>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D93F9"/>
                </a:solidFill>
              </a:defRPr>
            </a:pPr>
            <a:r>
              <a:t>[Visual Suggestion]</a:t>
            </a:r>
            <a:br/>
            <a:r>
              <a:t>- 질문하는 캐릭터 일러스트</a:t>
            </a:r>
            <a:br/>
            <a:r>
              <a:t>- "Thank You" 텍스트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